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9"/>
  </p:normalViewPr>
  <p:slideViewPr>
    <p:cSldViewPr snapToGrid="0">
      <p:cViewPr varScale="1">
        <p:scale>
          <a:sx n="112" d="100"/>
          <a:sy n="112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Weight</c:v>
          </c:tx>
          <c:dPt>
            <c:idx val="0"/>
            <c:bubble3D val="0"/>
            <c:spPr>
              <a:solidFill>
                <a:srgbClr val="FFB84D"/>
              </a:solidFill>
            </c:spPr>
            <c:extLst>
              <c:ext xmlns:c16="http://schemas.microsoft.com/office/drawing/2014/chart" uri="{C3380CC4-5D6E-409C-BE32-E72D297353CC}">
                <c16:uniqueId val="{00000001-484A-6347-8CE3-A501AD1BBB45}"/>
              </c:ext>
            </c:extLst>
          </c:dPt>
          <c:dPt>
            <c:idx val="1"/>
            <c:bubble3D val="0"/>
            <c:spPr>
              <a:solidFill>
                <a:srgbClr val="000000"/>
              </a:solidFill>
            </c:spPr>
            <c:extLst>
              <c:ext xmlns:c16="http://schemas.microsoft.com/office/drawing/2014/chart" uri="{C3380CC4-5D6E-409C-BE32-E72D297353CC}">
                <c16:uniqueId val="{00000003-484A-6347-8CE3-A501AD1BBB45}"/>
              </c:ext>
            </c:extLst>
          </c:dPt>
          <c:dPt>
            <c:idx val="2"/>
            <c:bubble3D val="0"/>
            <c:spPr>
              <a:solidFill>
                <a:srgbClr val="555555"/>
              </a:solidFill>
            </c:spPr>
            <c:extLst>
              <c:ext xmlns:c16="http://schemas.microsoft.com/office/drawing/2014/chart" uri="{C3380CC4-5D6E-409C-BE32-E72D297353CC}">
                <c16:uniqueId val="{00000005-484A-6347-8CE3-A501AD1BBB45}"/>
              </c:ext>
            </c:extLst>
          </c:dPt>
          <c:dPt>
            <c:idx val="3"/>
            <c:bubble3D val="0"/>
            <c:spPr>
              <a:solidFill>
                <a:srgbClr val="B8BCC4"/>
              </a:solidFill>
            </c:spPr>
            <c:extLst>
              <c:ext xmlns:c16="http://schemas.microsoft.com/office/drawing/2014/chart" uri="{C3380CC4-5D6E-409C-BE32-E72D297353CC}">
                <c16:uniqueId val="{00000007-484A-6347-8CE3-A501AD1BBB45}"/>
              </c:ext>
            </c:extLst>
          </c:dPt>
          <c:dPt>
            <c:idx val="4"/>
            <c:bubble3D val="0"/>
            <c:spPr>
              <a:solidFill>
                <a:srgbClr val="EDEDED"/>
              </a:solidFill>
            </c:spPr>
            <c:extLst>
              <c:ext xmlns:c16="http://schemas.microsoft.com/office/drawing/2014/chart" uri="{C3380CC4-5D6E-409C-BE32-E72D297353CC}">
                <c16:uniqueId val="{00000009-484A-6347-8CE3-A501AD1BBB45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5"/>
              <c:pt idx="0">
                <c:v>Comfortable day rate</c:v>
              </c:pt>
              <c:pt idx="1">
                <c:v>Dry day rate</c:v>
              </c:pt>
              <c:pt idx="2">
                <c:v>Non-hot day rate</c:v>
              </c:pt>
              <c:pt idx="3">
                <c:v>Non-windy day rate</c:v>
              </c:pt>
              <c:pt idx="4">
                <c:v>Good AQ day rate</c:v>
              </c:pt>
            </c:strLit>
          </c:cat>
          <c:val>
            <c:numLit>
              <c:formatCode>General</c:formatCode>
              <c:ptCount val="5"/>
              <c:pt idx="0">
                <c:v>45</c:v>
              </c:pt>
              <c:pt idx="1">
                <c:v>20</c:v>
              </c:pt>
              <c:pt idx="2">
                <c:v>15</c:v>
              </c:pt>
              <c:pt idx="3">
                <c:v>10</c:v>
              </c:pt>
              <c:pt idx="4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A-484A-6347-8CE3-A501AD1BBB45}"/>
            </c:ext>
          </c:extLst>
        </c:ser>
        <c:dLbls>
          <c:showLegendKey val="1"/>
          <c:showVal val="1"/>
          <c:showCatName val="1"/>
          <c:showSerName val="1"/>
          <c:showPercent val="1"/>
          <c:showBubbleSize val="1"/>
          <c:showLeaderLines val="1"/>
        </c:dLbls>
        <c:firstSliceAng val="0"/>
        <c:holeSize val="58"/>
      </c:doughnutChart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143044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Comfort score</c:v>
          </c:tx>
          <c:spPr>
            <a:solidFill>
              <a:srgbClr val="FFB84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Madrid</c:v>
              </c:pt>
              <c:pt idx="1">
                <c:v>Seville</c:v>
              </c:pt>
              <c:pt idx="2">
                <c:v>Bilbao</c:v>
              </c:pt>
              <c:pt idx="3">
                <c:v>Barcelona</c:v>
              </c:pt>
              <c:pt idx="4">
                <c:v>Valencia</c:v>
              </c:pt>
            </c:strLit>
          </c:cat>
          <c:val>
            <c:numLit>
              <c:formatCode>General</c:formatCode>
              <c:ptCount val="5"/>
              <c:pt idx="0">
                <c:v>45</c:v>
              </c:pt>
              <c:pt idx="1">
                <c:v>54</c:v>
              </c:pt>
              <c:pt idx="2">
                <c:v>55.2</c:v>
              </c:pt>
              <c:pt idx="3">
                <c:v>70.599999999999994</c:v>
              </c:pt>
              <c:pt idx="4">
                <c:v>77.8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0B8-154B-B051-380C57C0EE76}"/>
            </c:ext>
          </c:extLst>
        </c:ser>
        <c:dLbls>
          <c:dLblPos val="outEnd"/>
          <c:showLegendKey val="1"/>
          <c:showVal val="1"/>
          <c:showCatName val="1"/>
          <c:showSerName val="1"/>
          <c:showPercent val="1"/>
          <c:showBubbleSize val="1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Comfort score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A6B78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43044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B7D7E2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project goal: make recent city weather comparable through a reproducible analytics pipeline.</a:t>
            </a:r>
          </a:p>
          <a:p>
            <a:r>
              <a:t>Name the stack early: Open-Meteo, raw CSVs, DuckDB, dbt,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project as a data product, not just a set of scripts.</a:t>
            </a:r>
          </a:p>
          <a:p>
            <a:r>
              <a:t>The key idea is reproducibility: raw API data is transformed into tested final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 to right. The important defense point is separation of concerns.</a:t>
            </a:r>
          </a:p>
          <a:p>
            <a:r>
              <a:t>Mention that DuckDB reads the CSVs as external sources, so there is no manual load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asked why CSVs are committed, explain that they make the teacher's local run deterministic.</a:t>
            </a:r>
          </a:p>
          <a:p>
            <a:r>
              <a:t>The script overwrites the raw files on refresh, keeping extraction simple for the assignment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that each layer has a different responsibility.</a:t>
            </a:r>
          </a:p>
          <a:p>
            <a:r>
              <a:t>The marts are tables because Streamlit reads them repeatedly.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if the teacher asks where a particular object lives.</a:t>
            </a:r>
          </a:p>
          <a:p>
            <a:r>
              <a:t>A strong answer is to name the layer and grain before describing the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just say 'we tested it'. Be specific about grain and metric-range tests.</a:t>
            </a:r>
          </a:p>
          <a:p>
            <a:r>
              <a:t>The latest local run_results.json records 107 passing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score is transparent and bounded from 0 to 100.</a:t>
            </a:r>
          </a:p>
          <a:p>
            <a:r>
              <a:t>If challenged on the weights, acknowledge they are a chosen business definition and can be tuned.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ranking is not a subjective statement about the city in general; it is for this extracted period.</a:t>
            </a:r>
          </a:p>
          <a:p>
            <a:r>
              <a:t>Valencia wins because it has more comfortable days and fewer hot/rainy penalties than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here and switch from the slides to the local Streamlit browser tab.</a:t>
            </a:r>
          </a:p>
          <a:p>
            <a:r>
              <a:t>Demo the ranking first, then filters, then air-quality coverage and the daily detail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Stress that the app is deliberately simple: it presents modeled data, it does not transform raw API data.</a:t>
            </a:r>
          </a:p>
          <a:p>
            <a:r>
              <a:t>This is a good slide to demo the local Streamlit app if the teacher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helps you sound prepared, not defensive.</a:t>
            </a:r>
          </a:p>
          <a:p>
            <a:r>
              <a:t>For each limitation, immediately explain how the project handles it or what would change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ver-sky-panel">
            <a:extLst>
              <a:ext uri="{FF2B5EF4-FFF2-40B4-BE49-F238E27FC236}">
                <a16:creationId xmlns:a16="http://schemas.microsoft.com/office/drawing/2014/main" id="{CA529095-181D-42FB-8965-26A295EF3A8E}"/>
              </a:ext>
            </a:extLst>
          </p:cNvPr>
          <p:cNvSpPr>
            <a:spLocks noGrp="1"/>
          </p:cNvSpPr>
          <p:nvPr/>
        </p:nvSpPr>
        <p:spPr>
          <a:xfrm>
            <a:off x="0" y="4076700"/>
            <a:ext cx="12192000" cy="2781300"/>
          </a:xfrm>
          <a:prstGeom prst="rect">
            <a:avLst/>
          </a:prstGeom>
          <a:solidFill>
            <a:srgbClr val="DDF2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cover-sun-line">
            <a:extLst>
              <a:ext uri="{FF2B5EF4-FFF2-40B4-BE49-F238E27FC236}">
                <a16:creationId xmlns:a16="http://schemas.microsoft.com/office/drawing/2014/main" id="{F9AB8DB9-C34D-411B-B62A-A422A07DA888}"/>
              </a:ext>
            </a:extLst>
          </p:cNvPr>
          <p:cNvSpPr>
            <a:spLocks noGrp="1"/>
          </p:cNvSpPr>
          <p:nvPr/>
        </p:nvSpPr>
        <p:spPr>
          <a:xfrm>
            <a:off x="495300" y="3733800"/>
            <a:ext cx="4953000" cy="7620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ver-eyebrow">
            <a:extLst>
              <a:ext uri="{FF2B5EF4-FFF2-40B4-BE49-F238E27FC236}">
                <a16:creationId xmlns:a16="http://schemas.microsoft.com/office/drawing/2014/main" id="{98BA4894-8A19-4F68-9042-D6FEBFAC53EA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</a:rPr>
              <a:t>ANALYTICS ENGINEERING FINAL PROJECT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5AD0B146-8FCC-4B4F-9DAA-10FF286B165A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Open-Meteo City Comfort Index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806BF2F2-C77E-4594-8333-9A2315C197ED}"/>
              </a:ext>
            </a:extLst>
          </p:cNvPr>
          <p:cNvSpPr>
            <a:spLocks noGrp="1"/>
          </p:cNvSpPr>
          <p:nvPr/>
        </p:nvSpPr>
        <p:spPr>
          <a:xfrm>
            <a:off x="495300" y="268605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8E9EF"/>
                </a:solidFill>
              </a:defRPr>
            </a:pPr>
            <a:r>
              <a:rPr sz="1800" b="0">
                <a:solidFill>
                  <a:srgbClr val="D8E9EF"/>
                </a:solidFill>
              </a:rPr>
              <a:t>An end-to-end analytics engineering project using API extraction, DuckDB, dbt, and Streamlit.</a:t>
            </a:r>
          </a:p>
        </p:txBody>
      </p:sp>
      <p:sp>
        <p:nvSpPr>
          <p:cNvPr id="6" name="cover-feature">
            <a:extLst>
              <a:ext uri="{FF2B5EF4-FFF2-40B4-BE49-F238E27FC236}">
                <a16:creationId xmlns:a16="http://schemas.microsoft.com/office/drawing/2014/main" id="{BE6F5842-552C-44ED-9D1A-CBAEC41113CD}"/>
              </a:ext>
            </a:extLst>
          </p:cNvPr>
          <p:cNvSpPr>
            <a:spLocks noGrp="1"/>
          </p:cNvSpPr>
          <p:nvPr/>
        </p:nvSpPr>
        <p:spPr>
          <a:xfrm>
            <a:off x="8305800" y="914400"/>
            <a:ext cx="2857500" cy="2381250"/>
          </a:xfrm>
          <a:prstGeom prst="roundRect">
            <a:avLst>
              <a:gd name="adj" fmla="val 3200"/>
            </a:avLst>
          </a:prstGeom>
          <a:solidFill>
            <a:srgbClr val="1E4E63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cover-feature-title">
            <a:extLst>
              <a:ext uri="{FF2B5EF4-FFF2-40B4-BE49-F238E27FC236}">
                <a16:creationId xmlns:a16="http://schemas.microsoft.com/office/drawing/2014/main" id="{723496FE-1316-4FFF-A3B8-9E9CCC3554DB}"/>
              </a:ext>
            </a:extLst>
          </p:cNvPr>
          <p:cNvSpPr>
            <a:spLocks noGrp="1"/>
          </p:cNvSpPr>
          <p:nvPr/>
        </p:nvSpPr>
        <p:spPr>
          <a:xfrm>
            <a:off x="8591550" y="13525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 dirty="0">
                <a:solidFill>
                  <a:srgbClr val="FFFFFF"/>
                </a:solidFill>
              </a:rPr>
              <a:t>City comfort ranking</a:t>
            </a:r>
          </a:p>
        </p:txBody>
      </p:sp>
      <p:sp>
        <p:nvSpPr>
          <p:cNvPr id="8" name="cover-feature-body">
            <a:extLst>
              <a:ext uri="{FF2B5EF4-FFF2-40B4-BE49-F238E27FC236}">
                <a16:creationId xmlns:a16="http://schemas.microsoft.com/office/drawing/2014/main" id="{8E20779A-F877-4425-8194-DD8975392175}"/>
              </a:ext>
            </a:extLst>
          </p:cNvPr>
          <p:cNvSpPr>
            <a:spLocks noGrp="1"/>
          </p:cNvSpPr>
          <p:nvPr/>
        </p:nvSpPr>
        <p:spPr>
          <a:xfrm>
            <a:off x="8591550" y="2000250"/>
            <a:ext cx="2190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D8E9EF"/>
                </a:solidFill>
              </a:defRPr>
            </a:pPr>
            <a:r>
              <a:rPr sz="1425" b="0">
                <a:solidFill>
                  <a:srgbClr val="D8E9EF"/>
                </a:solidFill>
              </a:rPr>
              <a:t>Madrid, Barcelona, Valencia, Seville, and Bilbao compared through tested dbt marts.</a:t>
            </a:r>
          </a:p>
        </p:txBody>
      </p:sp>
      <p:sp>
        <p:nvSpPr>
          <p:cNvPr id="9" name="metric-card-cover-1">
            <a:extLst>
              <a:ext uri="{FF2B5EF4-FFF2-40B4-BE49-F238E27FC236}">
                <a16:creationId xmlns:a16="http://schemas.microsoft.com/office/drawing/2014/main" id="{F674A5C8-1526-429E-8471-076BE76B41FC}"/>
              </a:ext>
            </a:extLst>
          </p:cNvPr>
          <p:cNvSpPr>
            <a:spLocks noGrp="1"/>
          </p:cNvSpPr>
          <p:nvPr/>
        </p:nvSpPr>
        <p:spPr>
          <a:xfrm>
            <a:off x="1714500" y="4762500"/>
            <a:ext cx="1619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10" name="metric-accent-cover-1">
            <a:extLst>
              <a:ext uri="{FF2B5EF4-FFF2-40B4-BE49-F238E27FC236}">
                <a16:creationId xmlns:a16="http://schemas.microsoft.com/office/drawing/2014/main" id="{A9055BA7-9117-4ED0-9B81-9B31E01843DB}"/>
              </a:ext>
            </a:extLst>
          </p:cNvPr>
          <p:cNvSpPr>
            <a:spLocks noGrp="1"/>
          </p:cNvSpPr>
          <p:nvPr/>
        </p:nvSpPr>
        <p:spPr>
          <a:xfrm>
            <a:off x="1714500" y="4762500"/>
            <a:ext cx="66675" cy="123825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metric-stat-cover-1">
            <a:extLst>
              <a:ext uri="{FF2B5EF4-FFF2-40B4-BE49-F238E27FC236}">
                <a16:creationId xmlns:a16="http://schemas.microsoft.com/office/drawing/2014/main" id="{1694A9DA-9D12-4EAA-97A9-0CFF0993B55F}"/>
              </a:ext>
            </a:extLst>
          </p:cNvPr>
          <p:cNvSpPr>
            <a:spLocks noGrp="1"/>
          </p:cNvSpPr>
          <p:nvPr/>
        </p:nvSpPr>
        <p:spPr>
          <a:xfrm>
            <a:off x="1943100" y="4991100"/>
            <a:ext cx="1162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143044"/>
                </a:solidFill>
              </a:defRPr>
            </a:pPr>
            <a:r>
              <a:rPr sz="3150" b="1">
                <a:solidFill>
                  <a:srgbClr val="143044"/>
                </a:solidFill>
              </a:rPr>
              <a:t>5</a:t>
            </a:r>
          </a:p>
        </p:txBody>
      </p:sp>
      <p:sp>
        <p:nvSpPr>
          <p:cNvPr id="12" name="metric-label-cover-1">
            <a:extLst>
              <a:ext uri="{FF2B5EF4-FFF2-40B4-BE49-F238E27FC236}">
                <a16:creationId xmlns:a16="http://schemas.microsoft.com/office/drawing/2014/main" id="{0E88A641-CB90-4188-B825-2BD0FB999016}"/>
              </a:ext>
            </a:extLst>
          </p:cNvPr>
          <p:cNvSpPr>
            <a:spLocks noGrp="1"/>
          </p:cNvSpPr>
          <p:nvPr/>
        </p:nvSpPr>
        <p:spPr>
          <a:xfrm>
            <a:off x="1962150" y="55626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Spanish cities</a:t>
            </a:r>
          </a:p>
        </p:txBody>
      </p:sp>
      <p:sp>
        <p:nvSpPr>
          <p:cNvPr id="13" name="metric-card-cover-2">
            <a:extLst>
              <a:ext uri="{FF2B5EF4-FFF2-40B4-BE49-F238E27FC236}">
                <a16:creationId xmlns:a16="http://schemas.microsoft.com/office/drawing/2014/main" id="{1A418956-76FB-4DBF-88C7-9BFAADFFD8C9}"/>
              </a:ext>
            </a:extLst>
          </p:cNvPr>
          <p:cNvSpPr>
            <a:spLocks noGrp="1"/>
          </p:cNvSpPr>
          <p:nvPr/>
        </p:nvSpPr>
        <p:spPr>
          <a:xfrm>
            <a:off x="4019550" y="4762500"/>
            <a:ext cx="1619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metric-accent-cover-2">
            <a:extLst>
              <a:ext uri="{FF2B5EF4-FFF2-40B4-BE49-F238E27FC236}">
                <a16:creationId xmlns:a16="http://schemas.microsoft.com/office/drawing/2014/main" id="{D772D13C-75B9-4534-B6F4-75E16230CF67}"/>
              </a:ext>
            </a:extLst>
          </p:cNvPr>
          <p:cNvSpPr>
            <a:spLocks noGrp="1"/>
          </p:cNvSpPr>
          <p:nvPr/>
        </p:nvSpPr>
        <p:spPr>
          <a:xfrm>
            <a:off x="4019550" y="4762500"/>
            <a:ext cx="66675" cy="123825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metric-stat-cover-2">
            <a:extLst>
              <a:ext uri="{FF2B5EF4-FFF2-40B4-BE49-F238E27FC236}">
                <a16:creationId xmlns:a16="http://schemas.microsoft.com/office/drawing/2014/main" id="{D47057DF-72D4-4983-B720-B9454B513CA2}"/>
              </a:ext>
            </a:extLst>
          </p:cNvPr>
          <p:cNvSpPr>
            <a:spLocks noGrp="1"/>
          </p:cNvSpPr>
          <p:nvPr/>
        </p:nvSpPr>
        <p:spPr>
          <a:xfrm>
            <a:off x="4248150" y="4991100"/>
            <a:ext cx="1162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143044"/>
                </a:solidFill>
              </a:defRPr>
            </a:pPr>
            <a:r>
              <a:rPr sz="3150" b="1">
                <a:solidFill>
                  <a:srgbClr val="143044"/>
                </a:solidFill>
              </a:rPr>
              <a:t>11</a:t>
            </a:r>
          </a:p>
        </p:txBody>
      </p:sp>
      <p:sp>
        <p:nvSpPr>
          <p:cNvPr id="16" name="metric-label-cover-2">
            <a:extLst>
              <a:ext uri="{FF2B5EF4-FFF2-40B4-BE49-F238E27FC236}">
                <a16:creationId xmlns:a16="http://schemas.microsoft.com/office/drawing/2014/main" id="{5473E33D-97E8-443E-8D56-57ED5A8A0947}"/>
              </a:ext>
            </a:extLst>
          </p:cNvPr>
          <p:cNvSpPr>
            <a:spLocks noGrp="1"/>
          </p:cNvSpPr>
          <p:nvPr/>
        </p:nvSpPr>
        <p:spPr>
          <a:xfrm>
            <a:off x="4267200" y="55626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dbt models</a:t>
            </a:r>
          </a:p>
        </p:txBody>
      </p:sp>
      <p:sp>
        <p:nvSpPr>
          <p:cNvPr id="17" name="metric-card-cover-3">
            <a:extLst>
              <a:ext uri="{FF2B5EF4-FFF2-40B4-BE49-F238E27FC236}">
                <a16:creationId xmlns:a16="http://schemas.microsoft.com/office/drawing/2014/main" id="{3A597BFA-C42A-4340-9367-912CF29DE497}"/>
              </a:ext>
            </a:extLst>
          </p:cNvPr>
          <p:cNvSpPr>
            <a:spLocks noGrp="1"/>
          </p:cNvSpPr>
          <p:nvPr/>
        </p:nvSpPr>
        <p:spPr>
          <a:xfrm>
            <a:off x="6324600" y="4762500"/>
            <a:ext cx="1619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8" name="metric-accent-cover-3">
            <a:extLst>
              <a:ext uri="{FF2B5EF4-FFF2-40B4-BE49-F238E27FC236}">
                <a16:creationId xmlns:a16="http://schemas.microsoft.com/office/drawing/2014/main" id="{C0E1CEE9-D932-48A1-B096-0431C67B7513}"/>
              </a:ext>
            </a:extLst>
          </p:cNvPr>
          <p:cNvSpPr>
            <a:spLocks noGrp="1"/>
          </p:cNvSpPr>
          <p:nvPr/>
        </p:nvSpPr>
        <p:spPr>
          <a:xfrm>
            <a:off x="6324600" y="4762500"/>
            <a:ext cx="66675" cy="123825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metric-stat-cover-3">
            <a:extLst>
              <a:ext uri="{FF2B5EF4-FFF2-40B4-BE49-F238E27FC236}">
                <a16:creationId xmlns:a16="http://schemas.microsoft.com/office/drawing/2014/main" id="{E6FC1AF0-0AE0-4751-A1FB-59AFC2A42040}"/>
              </a:ext>
            </a:extLst>
          </p:cNvPr>
          <p:cNvSpPr>
            <a:spLocks noGrp="1"/>
          </p:cNvSpPr>
          <p:nvPr/>
        </p:nvSpPr>
        <p:spPr>
          <a:xfrm>
            <a:off x="6553200" y="4991100"/>
            <a:ext cx="1162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143044"/>
                </a:solidFill>
              </a:defRPr>
            </a:pPr>
            <a:r>
              <a:rPr sz="3150" b="1">
                <a:solidFill>
                  <a:srgbClr val="143044"/>
                </a:solidFill>
              </a:rPr>
              <a:t>107</a:t>
            </a:r>
          </a:p>
        </p:txBody>
      </p:sp>
      <p:sp>
        <p:nvSpPr>
          <p:cNvPr id="20" name="metric-label-cover-3">
            <a:extLst>
              <a:ext uri="{FF2B5EF4-FFF2-40B4-BE49-F238E27FC236}">
                <a16:creationId xmlns:a16="http://schemas.microsoft.com/office/drawing/2014/main" id="{21F8412B-574E-4AF4-96A0-5DCEF9522704}"/>
              </a:ext>
            </a:extLst>
          </p:cNvPr>
          <p:cNvSpPr>
            <a:spLocks noGrp="1"/>
          </p:cNvSpPr>
          <p:nvPr/>
        </p:nvSpPr>
        <p:spPr>
          <a:xfrm>
            <a:off x="6572250" y="55626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tests passed</a:t>
            </a:r>
          </a:p>
        </p:txBody>
      </p:sp>
      <p:sp>
        <p:nvSpPr>
          <p:cNvPr id="21" name="metric-card-cover-4">
            <a:extLst>
              <a:ext uri="{FF2B5EF4-FFF2-40B4-BE49-F238E27FC236}">
                <a16:creationId xmlns:a16="http://schemas.microsoft.com/office/drawing/2014/main" id="{BC887474-580C-4D0B-99DD-2C5D25143EC6}"/>
              </a:ext>
            </a:extLst>
          </p:cNvPr>
          <p:cNvSpPr>
            <a:spLocks noGrp="1"/>
          </p:cNvSpPr>
          <p:nvPr/>
        </p:nvSpPr>
        <p:spPr>
          <a:xfrm>
            <a:off x="8629650" y="4762500"/>
            <a:ext cx="1619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metric-accent-cover-4">
            <a:extLst>
              <a:ext uri="{FF2B5EF4-FFF2-40B4-BE49-F238E27FC236}">
                <a16:creationId xmlns:a16="http://schemas.microsoft.com/office/drawing/2014/main" id="{C120A6B1-3CC3-40B4-8E81-3B2EB2E7935F}"/>
              </a:ext>
            </a:extLst>
          </p:cNvPr>
          <p:cNvSpPr>
            <a:spLocks noGrp="1"/>
          </p:cNvSpPr>
          <p:nvPr/>
        </p:nvSpPr>
        <p:spPr>
          <a:xfrm>
            <a:off x="8629650" y="4762500"/>
            <a:ext cx="66675" cy="123825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metric-stat-cover-4">
            <a:extLst>
              <a:ext uri="{FF2B5EF4-FFF2-40B4-BE49-F238E27FC236}">
                <a16:creationId xmlns:a16="http://schemas.microsoft.com/office/drawing/2014/main" id="{EC99371F-394C-468D-AA61-6367C51E5988}"/>
              </a:ext>
            </a:extLst>
          </p:cNvPr>
          <p:cNvSpPr>
            <a:spLocks noGrp="1"/>
          </p:cNvSpPr>
          <p:nvPr/>
        </p:nvSpPr>
        <p:spPr>
          <a:xfrm>
            <a:off x="8858250" y="4991100"/>
            <a:ext cx="1162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143044"/>
                </a:solidFill>
              </a:defRPr>
            </a:pPr>
            <a:r>
              <a:rPr sz="3150" b="1">
                <a:solidFill>
                  <a:srgbClr val="143044"/>
                </a:solidFill>
              </a:rPr>
              <a:t>4</a:t>
            </a:r>
          </a:p>
        </p:txBody>
      </p:sp>
      <p:sp>
        <p:nvSpPr>
          <p:cNvPr id="24" name="metric-label-cover-4">
            <a:extLst>
              <a:ext uri="{FF2B5EF4-FFF2-40B4-BE49-F238E27FC236}">
                <a16:creationId xmlns:a16="http://schemas.microsoft.com/office/drawing/2014/main" id="{6C983981-4EF2-47F1-A549-B5BB14CA9273}"/>
              </a:ext>
            </a:extLst>
          </p:cNvPr>
          <p:cNvSpPr>
            <a:spLocks noGrp="1"/>
          </p:cNvSpPr>
          <p:nvPr/>
        </p:nvSpPr>
        <p:spPr>
          <a:xfrm>
            <a:off x="8877300" y="55626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dashboard marts</a:t>
            </a:r>
          </a:p>
        </p:txBody>
      </p:sp>
      <p:sp>
        <p:nvSpPr>
          <p:cNvPr id="25" name="footer-brand-1">
            <a:extLst>
              <a:ext uri="{FF2B5EF4-FFF2-40B4-BE49-F238E27FC236}">
                <a16:creationId xmlns:a16="http://schemas.microsoft.com/office/drawing/2014/main" id="{69839FA3-4A9F-432C-92EA-E42DE4C27423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A6B78"/>
                </a:solidFill>
              </a:defRPr>
            </a:pPr>
            <a:r>
              <a:rPr sz="975" b="1">
                <a:solidFill>
                  <a:srgbClr val="5A6B78"/>
                </a:solidFill>
              </a:rPr>
              <a:t>OPEN-METEO ANALYTICS</a:t>
            </a:r>
          </a:p>
        </p:txBody>
      </p:sp>
      <p:sp>
        <p:nvSpPr>
          <p:cNvPr id="26" name="footer-1">
            <a:extLst>
              <a:ext uri="{FF2B5EF4-FFF2-40B4-BE49-F238E27FC236}">
                <a16:creationId xmlns:a16="http://schemas.microsoft.com/office/drawing/2014/main" id="{864CE574-6363-416F-AF5D-B617F6B58575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43044"/>
                </a:solidFill>
              </a:defRPr>
            </a:pPr>
            <a:r>
              <a:rPr sz="1125" b="0">
                <a:solidFill>
                  <a:srgbClr val="14304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0049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op-wash-2">
            <a:extLst>
              <a:ext uri="{FF2B5EF4-FFF2-40B4-BE49-F238E27FC236}">
                <a16:creationId xmlns:a16="http://schemas.microsoft.com/office/drawing/2014/main" id="{2E242560-A1AA-4AA5-A9A0-F7EEB7C062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DDF2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ccent-rail-2">
            <a:extLst>
              <a:ext uri="{FF2B5EF4-FFF2-40B4-BE49-F238E27FC236}">
                <a16:creationId xmlns:a16="http://schemas.microsoft.com/office/drawing/2014/main" id="{BE2E6E1F-4CA3-4009-BACA-91DB730B77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-2">
            <a:extLst>
              <a:ext uri="{FF2B5EF4-FFF2-40B4-BE49-F238E27FC236}">
                <a16:creationId xmlns:a16="http://schemas.microsoft.com/office/drawing/2014/main" id="{EB314168-3C71-4896-8447-BCF09FA55AC1}"/>
              </a:ext>
            </a:extLst>
          </p:cNvPr>
          <p:cNvSpPr>
            <a:spLocks noGrp="1"/>
          </p:cNvSpPr>
          <p:nvPr/>
        </p:nvSpPr>
        <p:spPr>
          <a:xfrm>
            <a:off x="495300" y="2095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A6B78"/>
                </a:solidFill>
              </a:defRPr>
            </a:pPr>
            <a:r>
              <a:rPr sz="900" b="1">
                <a:solidFill>
                  <a:srgbClr val="5A6B78"/>
                </a:solidFill>
              </a:rPr>
              <a:t>PROJECT GOAL</a:t>
            </a:r>
          </a:p>
        </p:txBody>
      </p:sp>
      <p:sp>
        <p:nvSpPr>
          <p:cNvPr id="4" name="title-2">
            <a:extLst>
              <a:ext uri="{FF2B5EF4-FFF2-40B4-BE49-F238E27FC236}">
                <a16:creationId xmlns:a16="http://schemas.microsoft.com/office/drawing/2014/main" id="{298384B2-A4BD-42A6-9067-C4745E4E17A0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933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43044"/>
                </a:solidFill>
              </a:defRPr>
            </a:pPr>
            <a:r>
              <a:rPr sz="3000" b="1">
                <a:solidFill>
                  <a:srgbClr val="143044"/>
                </a:solidFill>
              </a:rPr>
              <a:t>The project answers a practical weather question</a:t>
            </a:r>
          </a:p>
        </p:txBody>
      </p:sp>
      <p:sp>
        <p:nvSpPr>
          <p:cNvPr id="5" name="footer-brand-2">
            <a:extLst>
              <a:ext uri="{FF2B5EF4-FFF2-40B4-BE49-F238E27FC236}">
                <a16:creationId xmlns:a16="http://schemas.microsoft.com/office/drawing/2014/main" id="{E42EF904-7A1A-4AA6-AFB1-75EEC84776C4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A6B78"/>
                </a:solidFill>
              </a:defRPr>
            </a:pPr>
            <a:r>
              <a:rPr sz="975" b="1">
                <a:solidFill>
                  <a:srgbClr val="5A6B78"/>
                </a:solidFill>
              </a:rPr>
              <a:t>OPEN-METEO ANALYTICS</a:t>
            </a:r>
          </a:p>
        </p:txBody>
      </p:sp>
      <p:sp>
        <p:nvSpPr>
          <p:cNvPr id="6" name="footer-2">
            <a:extLst>
              <a:ext uri="{FF2B5EF4-FFF2-40B4-BE49-F238E27FC236}">
                <a16:creationId xmlns:a16="http://schemas.microsoft.com/office/drawing/2014/main" id="{0595010D-DF6F-4682-8D3E-161D01353121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43044"/>
                </a:solidFill>
              </a:defRPr>
            </a:pPr>
            <a:r>
              <a:rPr sz="1125" b="0">
                <a:solidFill>
                  <a:srgbClr val="143044"/>
                </a:solidFill>
              </a:rPr>
              <a:t>02</a:t>
            </a:r>
          </a:p>
        </p:txBody>
      </p:sp>
      <p:sp>
        <p:nvSpPr>
          <p:cNvPr id="7" name="purpose-main">
            <a:extLst>
              <a:ext uri="{FF2B5EF4-FFF2-40B4-BE49-F238E27FC236}">
                <a16:creationId xmlns:a16="http://schemas.microsoft.com/office/drawing/2014/main" id="{0EF598DF-29B0-47B9-9E8C-2279A2D996B2}"/>
              </a:ext>
            </a:extLst>
          </p:cNvPr>
          <p:cNvSpPr>
            <a:spLocks noGrp="1"/>
          </p:cNvSpPr>
          <p:nvPr/>
        </p:nvSpPr>
        <p:spPr>
          <a:xfrm>
            <a:off x="390525" y="1714500"/>
            <a:ext cx="6953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0">
                <a:solidFill>
                  <a:srgbClr val="143044"/>
                </a:solidFill>
              </a:defRPr>
            </a:pPr>
            <a:r>
              <a:rPr sz="3000" b="0">
                <a:solidFill>
                  <a:srgbClr val="143044"/>
                </a:solidFill>
              </a:rPr>
              <a:t>Which Spanish cities had the most comfortable recent weather?</a:t>
            </a:r>
          </a:p>
        </p:txBody>
      </p:sp>
      <p:sp>
        <p:nvSpPr>
          <p:cNvPr id="8" name="purpose-bullets">
            <a:extLst>
              <a:ext uri="{FF2B5EF4-FFF2-40B4-BE49-F238E27FC236}">
                <a16:creationId xmlns:a16="http://schemas.microsoft.com/office/drawing/2014/main" id="{E46A6FCD-F14B-4B3A-9A69-43AA552A70E1}"/>
              </a:ext>
            </a:extLst>
          </p:cNvPr>
          <p:cNvSpPr>
            <a:spLocks noGrp="1"/>
          </p:cNvSpPr>
          <p:nvPr/>
        </p:nvSpPr>
        <p:spPr>
          <a:xfrm>
            <a:off x="390525" y="3295650"/>
            <a:ext cx="657225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43044"/>
                </a:solidFill>
              </a:defRPr>
            </a:pPr>
            <a:r>
              <a:rPr sz="1725" b="0">
                <a:solidFill>
                  <a:srgbClr val="143044"/>
                </a:solidFill>
              </a:rPr>
              <a:t>• Extract current weather, forecast, location, and air-quality data from Open-Meteo.</a:t>
            </a:r>
          </a:p>
          <a:p>
            <a:pPr algn="l">
              <a:defRPr sz="1725" b="0">
                <a:solidFill>
                  <a:srgbClr val="143044"/>
                </a:solidFill>
              </a:defRPr>
            </a:pPr>
            <a:r>
              <a:rPr sz="1725" b="0">
                <a:solidFill>
                  <a:srgbClr val="143044"/>
                </a:solidFill>
              </a:rPr>
              <a:t>• Transform raw API-shaped files into documented dbt models with stable grains.</a:t>
            </a:r>
          </a:p>
          <a:p>
            <a:pPr algn="l">
              <a:defRPr sz="1725" b="0">
                <a:solidFill>
                  <a:srgbClr val="143044"/>
                </a:solidFill>
              </a:defRPr>
            </a:pPr>
            <a:r>
              <a:rPr sz="1725" b="0">
                <a:solidFill>
                  <a:srgbClr val="143044"/>
                </a:solidFill>
              </a:rPr>
              <a:t>• Expose only final mart models to a Streamlit dashboard.</a:t>
            </a:r>
          </a:p>
        </p:txBody>
      </p:sp>
      <p:sp>
        <p:nvSpPr>
          <p:cNvPr id="9" name="purpose-side">
            <a:extLst>
              <a:ext uri="{FF2B5EF4-FFF2-40B4-BE49-F238E27FC236}">
                <a16:creationId xmlns:a16="http://schemas.microsoft.com/office/drawing/2014/main" id="{98EF3F8C-6745-4CD0-B197-E41003DBE593}"/>
              </a:ext>
            </a:extLst>
          </p:cNvPr>
          <p:cNvSpPr>
            <a:spLocks noGrp="1"/>
          </p:cNvSpPr>
          <p:nvPr/>
        </p:nvSpPr>
        <p:spPr>
          <a:xfrm>
            <a:off x="7829550" y="1200150"/>
            <a:ext cx="3962400" cy="434340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purpose-side-title">
            <a:extLst>
              <a:ext uri="{FF2B5EF4-FFF2-40B4-BE49-F238E27FC236}">
                <a16:creationId xmlns:a16="http://schemas.microsoft.com/office/drawing/2014/main" id="{0F1E2508-D6FB-4E40-B8F9-7974CB4451B5}"/>
              </a:ext>
            </a:extLst>
          </p:cNvPr>
          <p:cNvSpPr>
            <a:spLocks noGrp="1"/>
          </p:cNvSpPr>
          <p:nvPr/>
        </p:nvSpPr>
        <p:spPr>
          <a:xfrm>
            <a:off x="8229600" y="16764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143044"/>
                </a:solidFill>
              </a:defRPr>
            </a:pPr>
            <a:r>
              <a:rPr sz="1950" b="0">
                <a:solidFill>
                  <a:srgbClr val="143044"/>
                </a:solidFill>
              </a:rPr>
              <a:t>Teacher-facing proof</a:t>
            </a:r>
          </a:p>
        </p:txBody>
      </p:sp>
      <p:sp>
        <p:nvSpPr>
          <p:cNvPr id="11" name="purpose-side-bullets">
            <a:extLst>
              <a:ext uri="{FF2B5EF4-FFF2-40B4-BE49-F238E27FC236}">
                <a16:creationId xmlns:a16="http://schemas.microsoft.com/office/drawing/2014/main" id="{57816269-AC5B-4AF8-9C2C-382873441272}"/>
              </a:ext>
            </a:extLst>
          </p:cNvPr>
          <p:cNvSpPr>
            <a:spLocks noGrp="1"/>
          </p:cNvSpPr>
          <p:nvPr/>
        </p:nvSpPr>
        <p:spPr>
          <a:xfrm>
            <a:off x="8229600" y="2324100"/>
            <a:ext cx="29527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43044"/>
                </a:solidFill>
              </a:defRPr>
            </a:pPr>
            <a:r>
              <a:rPr sz="1500" b="0">
                <a:solidFill>
                  <a:srgbClr val="143044"/>
                </a:solidFill>
              </a:rPr>
              <a:t>• Every model has a clear grain.</a:t>
            </a:r>
          </a:p>
          <a:p>
            <a:pPr algn="l">
              <a:defRPr sz="1500" b="0">
                <a:solidFill>
                  <a:srgbClr val="143044"/>
                </a:solidFill>
              </a:defRPr>
            </a:pPr>
            <a:r>
              <a:rPr sz="1500" b="0">
                <a:solidFill>
                  <a:srgbClr val="143044"/>
                </a:solidFill>
              </a:rPr>
              <a:t>• The dashboard does not query raw data.</a:t>
            </a:r>
          </a:p>
          <a:p>
            <a:pPr algn="l">
              <a:defRPr sz="1500" b="0">
                <a:solidFill>
                  <a:srgbClr val="143044"/>
                </a:solidFill>
              </a:defRPr>
            </a:pPr>
            <a:r>
              <a:rPr sz="1500" b="0">
                <a:solidFill>
                  <a:srgbClr val="143044"/>
                </a:solidFill>
              </a:rPr>
              <a:t>• Data quality is tested with schema and custom SQL tests.</a:t>
            </a:r>
          </a:p>
          <a:p>
            <a:pPr algn="l">
              <a:defRPr sz="1500" b="0">
                <a:solidFill>
                  <a:srgbClr val="143044"/>
                </a:solidFill>
              </a:defRPr>
            </a:pPr>
            <a:r>
              <a:rPr sz="1500" b="0">
                <a:solidFill>
                  <a:srgbClr val="143044"/>
                </a:solidFill>
              </a:rPr>
              <a:t>• The project can be rebuilt locally from the README commands.</a:t>
            </a:r>
          </a:p>
        </p:txBody>
      </p:sp>
    </p:spTree>
    <p:extLst>
      <p:ext uri="{BB962C8B-B14F-4D97-AF65-F5344CB8AC3E}">
        <p14:creationId xmlns:p14="http://schemas.microsoft.com/office/powerpoint/2010/main" val="2146897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op-wash-3">
            <a:extLst>
              <a:ext uri="{FF2B5EF4-FFF2-40B4-BE49-F238E27FC236}">
                <a16:creationId xmlns:a16="http://schemas.microsoft.com/office/drawing/2014/main" id="{B698AFAB-AC78-4D43-8A6C-4B775C3C9D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DDF2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ccent-rail-3">
            <a:extLst>
              <a:ext uri="{FF2B5EF4-FFF2-40B4-BE49-F238E27FC236}">
                <a16:creationId xmlns:a16="http://schemas.microsoft.com/office/drawing/2014/main" id="{931FACC8-F39E-4E30-A016-AC40F19BFF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-3">
            <a:extLst>
              <a:ext uri="{FF2B5EF4-FFF2-40B4-BE49-F238E27FC236}">
                <a16:creationId xmlns:a16="http://schemas.microsoft.com/office/drawing/2014/main" id="{EEB93DCE-01F6-47E9-A89C-739842AEFEA3}"/>
              </a:ext>
            </a:extLst>
          </p:cNvPr>
          <p:cNvSpPr>
            <a:spLocks noGrp="1"/>
          </p:cNvSpPr>
          <p:nvPr/>
        </p:nvSpPr>
        <p:spPr>
          <a:xfrm>
            <a:off x="495300" y="2095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A6B78"/>
                </a:solidFill>
              </a:defRPr>
            </a:pPr>
            <a:r>
              <a:rPr sz="900" b="1">
                <a:solidFill>
                  <a:srgbClr val="5A6B78"/>
                </a:solidFill>
              </a:rPr>
              <a:t>ARCHITECTURE</a:t>
            </a:r>
          </a:p>
        </p:txBody>
      </p:sp>
      <p:sp>
        <p:nvSpPr>
          <p:cNvPr id="4" name="title-3">
            <a:extLst>
              <a:ext uri="{FF2B5EF4-FFF2-40B4-BE49-F238E27FC236}">
                <a16:creationId xmlns:a16="http://schemas.microsoft.com/office/drawing/2014/main" id="{D962B2B0-FF34-44F8-A29D-14A7AE2FB367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1098042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43044"/>
                </a:solidFill>
              </a:defRPr>
            </a:pPr>
            <a:r>
              <a:rPr sz="3000" b="1" dirty="0">
                <a:solidFill>
                  <a:srgbClr val="143044"/>
                </a:solidFill>
              </a:rPr>
              <a:t>The pipeline moves from API responses to dashboard-ready marts</a:t>
            </a:r>
          </a:p>
        </p:txBody>
      </p:sp>
      <p:sp>
        <p:nvSpPr>
          <p:cNvPr id="5" name="footer-brand-3">
            <a:extLst>
              <a:ext uri="{FF2B5EF4-FFF2-40B4-BE49-F238E27FC236}">
                <a16:creationId xmlns:a16="http://schemas.microsoft.com/office/drawing/2014/main" id="{58B33932-2CC2-4AF8-8D5F-76682D41B3BE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A6B78"/>
                </a:solidFill>
              </a:defRPr>
            </a:pPr>
            <a:r>
              <a:rPr sz="975" b="1">
                <a:solidFill>
                  <a:srgbClr val="5A6B78"/>
                </a:solidFill>
              </a:rPr>
              <a:t>OPEN-METEO ANALYTICS</a:t>
            </a:r>
          </a:p>
        </p:txBody>
      </p:sp>
      <p:sp>
        <p:nvSpPr>
          <p:cNvPr id="6" name="footer-3">
            <a:extLst>
              <a:ext uri="{FF2B5EF4-FFF2-40B4-BE49-F238E27FC236}">
                <a16:creationId xmlns:a16="http://schemas.microsoft.com/office/drawing/2014/main" id="{06E6ABBC-D36A-40FE-BB10-661D79EF9B8C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43044"/>
                </a:solidFill>
              </a:defRPr>
            </a:pPr>
            <a:r>
              <a:rPr sz="1125" b="0">
                <a:solidFill>
                  <a:srgbClr val="143044"/>
                </a:solidFill>
              </a:rPr>
              <a:t>03</a:t>
            </a:r>
          </a:p>
        </p:txBody>
      </p:sp>
      <p:sp>
        <p:nvSpPr>
          <p:cNvPr id="7" name="arch-step-0">
            <a:extLst>
              <a:ext uri="{FF2B5EF4-FFF2-40B4-BE49-F238E27FC236}">
                <a16:creationId xmlns:a16="http://schemas.microsoft.com/office/drawing/2014/main" id="{34A87EF7-B1CF-4C9C-89F4-CDB0A6D2F920}"/>
              </a:ext>
            </a:extLst>
          </p:cNvPr>
          <p:cNvSpPr>
            <a:spLocks noGrp="1"/>
          </p:cNvSpPr>
          <p:nvPr/>
        </p:nvSpPr>
        <p:spPr>
          <a:xfrm>
            <a:off x="1047750" y="2095500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1906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8" name="arch-step-title-0">
            <a:extLst>
              <a:ext uri="{FF2B5EF4-FFF2-40B4-BE49-F238E27FC236}">
                <a16:creationId xmlns:a16="http://schemas.microsoft.com/office/drawing/2014/main" id="{26C50F12-0D14-4DDB-95D3-86FC2F23D347}"/>
              </a:ext>
            </a:extLst>
          </p:cNvPr>
          <p:cNvSpPr>
            <a:spLocks noGrp="1"/>
          </p:cNvSpPr>
          <p:nvPr/>
        </p:nvSpPr>
        <p:spPr>
          <a:xfrm>
            <a:off x="1200150" y="226695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Open-Meteo</a:t>
            </a:r>
          </a:p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APIs</a:t>
            </a:r>
          </a:p>
        </p:txBody>
      </p:sp>
      <p:sp>
        <p:nvSpPr>
          <p:cNvPr id="9" name="arch-step-body-0">
            <a:extLst>
              <a:ext uri="{FF2B5EF4-FFF2-40B4-BE49-F238E27FC236}">
                <a16:creationId xmlns:a16="http://schemas.microsoft.com/office/drawing/2014/main" id="{CDECD823-B211-4F3D-843A-4EEAA454808E}"/>
              </a:ext>
            </a:extLst>
          </p:cNvPr>
          <p:cNvSpPr>
            <a:spLocks noGrp="1"/>
          </p:cNvSpPr>
          <p:nvPr/>
        </p:nvSpPr>
        <p:spPr>
          <a:xfrm>
            <a:off x="1200150" y="2800350"/>
            <a:ext cx="1981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Geocoding, weather, forecast, air quality</a:t>
            </a:r>
          </a:p>
        </p:txBody>
      </p:sp>
      <p:sp>
        <p:nvSpPr>
          <p:cNvPr id="10" name="arch-arrow-0">
            <a:extLst>
              <a:ext uri="{FF2B5EF4-FFF2-40B4-BE49-F238E27FC236}">
                <a16:creationId xmlns:a16="http://schemas.microsoft.com/office/drawing/2014/main" id="{7ADB551F-980C-4C48-BC40-B917E48DBD91}"/>
              </a:ext>
            </a:extLst>
          </p:cNvPr>
          <p:cNvSpPr>
            <a:spLocks noGrp="1"/>
          </p:cNvSpPr>
          <p:nvPr/>
        </p:nvSpPr>
        <p:spPr>
          <a:xfrm>
            <a:off x="3657600" y="2495550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0">
                <a:solidFill>
                  <a:srgbClr val="FFB84D"/>
                </a:solidFill>
              </a:defRPr>
            </a:pPr>
            <a:r>
              <a:rPr sz="2250" b="0">
                <a:solidFill>
                  <a:srgbClr val="FFB84D"/>
                </a:solidFill>
              </a:rPr>
              <a:t>&gt;</a:t>
            </a:r>
          </a:p>
        </p:txBody>
      </p:sp>
      <p:sp>
        <p:nvSpPr>
          <p:cNvPr id="11" name="arch-step-1">
            <a:extLst>
              <a:ext uri="{FF2B5EF4-FFF2-40B4-BE49-F238E27FC236}">
                <a16:creationId xmlns:a16="http://schemas.microsoft.com/office/drawing/2014/main" id="{31396B7D-2FB6-4850-8036-462F77F0AAA4}"/>
              </a:ext>
            </a:extLst>
          </p:cNvPr>
          <p:cNvSpPr>
            <a:spLocks noGrp="1"/>
          </p:cNvSpPr>
          <p:nvPr/>
        </p:nvSpPr>
        <p:spPr>
          <a:xfrm>
            <a:off x="4524375" y="2095500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EAF6FA"/>
          </a:solidFill>
          <a:ln w="11906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12" name="arch-step-title-1">
            <a:extLst>
              <a:ext uri="{FF2B5EF4-FFF2-40B4-BE49-F238E27FC236}">
                <a16:creationId xmlns:a16="http://schemas.microsoft.com/office/drawing/2014/main" id="{CFCBADCB-2F09-4A39-AC0B-ADEB24D20347}"/>
              </a:ext>
            </a:extLst>
          </p:cNvPr>
          <p:cNvSpPr>
            <a:spLocks noGrp="1"/>
          </p:cNvSpPr>
          <p:nvPr/>
        </p:nvSpPr>
        <p:spPr>
          <a:xfrm>
            <a:off x="4676775" y="226695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Raw CSV</a:t>
            </a:r>
          </a:p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files</a:t>
            </a:r>
          </a:p>
        </p:txBody>
      </p:sp>
      <p:sp>
        <p:nvSpPr>
          <p:cNvPr id="13" name="arch-step-body-1">
            <a:extLst>
              <a:ext uri="{FF2B5EF4-FFF2-40B4-BE49-F238E27FC236}">
                <a16:creationId xmlns:a16="http://schemas.microsoft.com/office/drawing/2014/main" id="{B9658FD0-8723-4CEB-9A59-9FB8D98746FB}"/>
              </a:ext>
            </a:extLst>
          </p:cNvPr>
          <p:cNvSpPr>
            <a:spLocks noGrp="1"/>
          </p:cNvSpPr>
          <p:nvPr/>
        </p:nvSpPr>
        <p:spPr>
          <a:xfrm>
            <a:off x="4676775" y="2800350"/>
            <a:ext cx="1981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Four files in data/raw/open_meteo</a:t>
            </a:r>
          </a:p>
        </p:txBody>
      </p:sp>
      <p:sp>
        <p:nvSpPr>
          <p:cNvPr id="14" name="arch-arrow-1">
            <a:extLst>
              <a:ext uri="{FF2B5EF4-FFF2-40B4-BE49-F238E27FC236}">
                <a16:creationId xmlns:a16="http://schemas.microsoft.com/office/drawing/2014/main" id="{B540EE4B-58F9-418B-877B-89FE833F9D41}"/>
              </a:ext>
            </a:extLst>
          </p:cNvPr>
          <p:cNvSpPr>
            <a:spLocks noGrp="1"/>
          </p:cNvSpPr>
          <p:nvPr/>
        </p:nvSpPr>
        <p:spPr>
          <a:xfrm>
            <a:off x="7134225" y="2495550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0">
                <a:solidFill>
                  <a:srgbClr val="FFB84D"/>
                </a:solidFill>
              </a:defRPr>
            </a:pPr>
            <a:r>
              <a:rPr sz="2250" b="0">
                <a:solidFill>
                  <a:srgbClr val="FFB84D"/>
                </a:solidFill>
              </a:rPr>
              <a:t>&gt;</a:t>
            </a:r>
          </a:p>
        </p:txBody>
      </p:sp>
      <p:sp>
        <p:nvSpPr>
          <p:cNvPr id="15" name="arch-step-2">
            <a:extLst>
              <a:ext uri="{FF2B5EF4-FFF2-40B4-BE49-F238E27FC236}">
                <a16:creationId xmlns:a16="http://schemas.microsoft.com/office/drawing/2014/main" id="{8B2E8D4F-A987-4806-A4A5-78BA54D5EE2F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1906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16" name="arch-step-title-2">
            <a:extLst>
              <a:ext uri="{FF2B5EF4-FFF2-40B4-BE49-F238E27FC236}">
                <a16:creationId xmlns:a16="http://schemas.microsoft.com/office/drawing/2014/main" id="{70C3F90A-62B0-493A-820C-59D312C16C4A}"/>
              </a:ext>
            </a:extLst>
          </p:cNvPr>
          <p:cNvSpPr>
            <a:spLocks noGrp="1"/>
          </p:cNvSpPr>
          <p:nvPr/>
        </p:nvSpPr>
        <p:spPr>
          <a:xfrm>
            <a:off x="8153400" y="226695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dbt</a:t>
            </a:r>
          </a:p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sources</a:t>
            </a:r>
          </a:p>
        </p:txBody>
      </p:sp>
      <p:sp>
        <p:nvSpPr>
          <p:cNvPr id="17" name="arch-step-body-2">
            <a:extLst>
              <a:ext uri="{FF2B5EF4-FFF2-40B4-BE49-F238E27FC236}">
                <a16:creationId xmlns:a16="http://schemas.microsoft.com/office/drawing/2014/main" id="{04CD1FA7-2EB5-404B-BE3F-8EE98F5B0639}"/>
              </a:ext>
            </a:extLst>
          </p:cNvPr>
          <p:cNvSpPr>
            <a:spLocks noGrp="1"/>
          </p:cNvSpPr>
          <p:nvPr/>
        </p:nvSpPr>
        <p:spPr>
          <a:xfrm>
            <a:off x="8153400" y="2800350"/>
            <a:ext cx="1981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External CSV reads through DuckDB</a:t>
            </a:r>
          </a:p>
        </p:txBody>
      </p:sp>
      <p:sp>
        <p:nvSpPr>
          <p:cNvPr id="18" name="arch-step-3">
            <a:extLst>
              <a:ext uri="{FF2B5EF4-FFF2-40B4-BE49-F238E27FC236}">
                <a16:creationId xmlns:a16="http://schemas.microsoft.com/office/drawing/2014/main" id="{DBA1A9BB-62AF-4C69-99D7-B94F9B8EACC7}"/>
              </a:ext>
            </a:extLst>
          </p:cNvPr>
          <p:cNvSpPr>
            <a:spLocks noGrp="1"/>
          </p:cNvSpPr>
          <p:nvPr/>
        </p:nvSpPr>
        <p:spPr>
          <a:xfrm>
            <a:off x="390525" y="3762375"/>
            <a:ext cx="2333625" cy="1162050"/>
          </a:xfrm>
          <a:prstGeom prst="roundRect">
            <a:avLst>
              <a:gd name="adj" fmla="val 6557"/>
            </a:avLst>
          </a:prstGeom>
          <a:solidFill>
            <a:srgbClr val="EAF6FA"/>
          </a:solidFill>
          <a:ln w="11906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19" name="arch-step-title-3">
            <a:extLst>
              <a:ext uri="{FF2B5EF4-FFF2-40B4-BE49-F238E27FC236}">
                <a16:creationId xmlns:a16="http://schemas.microsoft.com/office/drawing/2014/main" id="{06D117D6-44D3-4D8B-8E7F-1B5F7560565B}"/>
              </a:ext>
            </a:extLst>
          </p:cNvPr>
          <p:cNvSpPr>
            <a:spLocks noGrp="1"/>
          </p:cNvSpPr>
          <p:nvPr/>
        </p:nvSpPr>
        <p:spPr>
          <a:xfrm>
            <a:off x="542925" y="3933825"/>
            <a:ext cx="2028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Staging</a:t>
            </a:r>
          </a:p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views</a:t>
            </a:r>
          </a:p>
        </p:txBody>
      </p:sp>
      <p:sp>
        <p:nvSpPr>
          <p:cNvPr id="20" name="arch-step-body-3">
            <a:extLst>
              <a:ext uri="{FF2B5EF4-FFF2-40B4-BE49-F238E27FC236}">
                <a16:creationId xmlns:a16="http://schemas.microsoft.com/office/drawing/2014/main" id="{AE3BC2FB-4CF7-49A8-AD4A-E43923EFBC8E}"/>
              </a:ext>
            </a:extLst>
          </p:cNvPr>
          <p:cNvSpPr>
            <a:spLocks noGrp="1"/>
          </p:cNvSpPr>
          <p:nvPr/>
        </p:nvSpPr>
        <p:spPr>
          <a:xfrm>
            <a:off x="542925" y="4467225"/>
            <a:ext cx="2028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Renamed, typed, deduplicated</a:t>
            </a:r>
          </a:p>
        </p:txBody>
      </p:sp>
      <p:sp>
        <p:nvSpPr>
          <p:cNvPr id="21" name="arch-arrow-3">
            <a:extLst>
              <a:ext uri="{FF2B5EF4-FFF2-40B4-BE49-F238E27FC236}">
                <a16:creationId xmlns:a16="http://schemas.microsoft.com/office/drawing/2014/main" id="{3C3704BB-3D91-4F1A-A2E8-02D2CEF488F3}"/>
              </a:ext>
            </a:extLst>
          </p:cNvPr>
          <p:cNvSpPr>
            <a:spLocks noGrp="1"/>
          </p:cNvSpPr>
          <p:nvPr/>
        </p:nvSpPr>
        <p:spPr>
          <a:xfrm>
            <a:off x="3048000" y="41624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0">
                <a:solidFill>
                  <a:srgbClr val="FFB84D"/>
                </a:solidFill>
              </a:defRPr>
            </a:pPr>
            <a:r>
              <a:rPr sz="2250" b="0">
                <a:solidFill>
                  <a:srgbClr val="FFB84D"/>
                </a:solidFill>
              </a:rPr>
              <a:t>&gt;</a:t>
            </a:r>
          </a:p>
        </p:txBody>
      </p:sp>
      <p:sp>
        <p:nvSpPr>
          <p:cNvPr id="22" name="arch-step-4">
            <a:extLst>
              <a:ext uri="{FF2B5EF4-FFF2-40B4-BE49-F238E27FC236}">
                <a16:creationId xmlns:a16="http://schemas.microsoft.com/office/drawing/2014/main" id="{FF8A0465-D412-41A3-B07E-F388F3A16FFB}"/>
              </a:ext>
            </a:extLst>
          </p:cNvPr>
          <p:cNvSpPr>
            <a:spLocks noGrp="1"/>
          </p:cNvSpPr>
          <p:nvPr/>
        </p:nvSpPr>
        <p:spPr>
          <a:xfrm>
            <a:off x="3257550" y="3762375"/>
            <a:ext cx="2333625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1906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23" name="arch-step-title-4">
            <a:extLst>
              <a:ext uri="{FF2B5EF4-FFF2-40B4-BE49-F238E27FC236}">
                <a16:creationId xmlns:a16="http://schemas.microsoft.com/office/drawing/2014/main" id="{5D8F0C56-F2BB-4A10-8F0A-F006146B9635}"/>
              </a:ext>
            </a:extLst>
          </p:cNvPr>
          <p:cNvSpPr>
            <a:spLocks noGrp="1"/>
          </p:cNvSpPr>
          <p:nvPr/>
        </p:nvSpPr>
        <p:spPr>
          <a:xfrm>
            <a:off x="3409950" y="3933825"/>
            <a:ext cx="2028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Intermediate</a:t>
            </a:r>
          </a:p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views</a:t>
            </a:r>
          </a:p>
        </p:txBody>
      </p:sp>
      <p:sp>
        <p:nvSpPr>
          <p:cNvPr id="24" name="arch-step-body-4">
            <a:extLst>
              <a:ext uri="{FF2B5EF4-FFF2-40B4-BE49-F238E27FC236}">
                <a16:creationId xmlns:a16="http://schemas.microsoft.com/office/drawing/2014/main" id="{9565DB96-E5DA-4327-A0C2-2ABC3149925B}"/>
              </a:ext>
            </a:extLst>
          </p:cNvPr>
          <p:cNvSpPr>
            <a:spLocks noGrp="1"/>
          </p:cNvSpPr>
          <p:nvPr/>
        </p:nvSpPr>
        <p:spPr>
          <a:xfrm>
            <a:off x="3409950" y="4467225"/>
            <a:ext cx="2028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Daily AQ rollup, joins, flags</a:t>
            </a:r>
          </a:p>
        </p:txBody>
      </p:sp>
      <p:sp>
        <p:nvSpPr>
          <p:cNvPr id="25" name="arch-arrow-4">
            <a:extLst>
              <a:ext uri="{FF2B5EF4-FFF2-40B4-BE49-F238E27FC236}">
                <a16:creationId xmlns:a16="http://schemas.microsoft.com/office/drawing/2014/main" id="{CB06D664-55F6-4D55-ABD3-B5B53A58C64A}"/>
              </a:ext>
            </a:extLst>
          </p:cNvPr>
          <p:cNvSpPr>
            <a:spLocks noGrp="1"/>
          </p:cNvSpPr>
          <p:nvPr/>
        </p:nvSpPr>
        <p:spPr>
          <a:xfrm>
            <a:off x="5915025" y="41624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0">
                <a:solidFill>
                  <a:srgbClr val="FFB84D"/>
                </a:solidFill>
              </a:defRPr>
            </a:pPr>
            <a:r>
              <a:rPr sz="2250" b="0">
                <a:solidFill>
                  <a:srgbClr val="FFB84D"/>
                </a:solidFill>
              </a:rPr>
              <a:t>&gt;</a:t>
            </a:r>
          </a:p>
        </p:txBody>
      </p:sp>
      <p:sp>
        <p:nvSpPr>
          <p:cNvPr id="26" name="arch-step-5">
            <a:extLst>
              <a:ext uri="{FF2B5EF4-FFF2-40B4-BE49-F238E27FC236}">
                <a16:creationId xmlns:a16="http://schemas.microsoft.com/office/drawing/2014/main" id="{F53402C9-84CD-4188-930A-11C3582ECB51}"/>
              </a:ext>
            </a:extLst>
          </p:cNvPr>
          <p:cNvSpPr>
            <a:spLocks noGrp="1"/>
          </p:cNvSpPr>
          <p:nvPr/>
        </p:nvSpPr>
        <p:spPr>
          <a:xfrm>
            <a:off x="6124575" y="3762375"/>
            <a:ext cx="2333625" cy="1162050"/>
          </a:xfrm>
          <a:prstGeom prst="roundRect">
            <a:avLst>
              <a:gd name="adj" fmla="val 6557"/>
            </a:avLst>
          </a:prstGeom>
          <a:solidFill>
            <a:srgbClr val="EAF6FA"/>
          </a:solidFill>
          <a:ln w="11906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27" name="arch-step-title-5">
            <a:extLst>
              <a:ext uri="{FF2B5EF4-FFF2-40B4-BE49-F238E27FC236}">
                <a16:creationId xmlns:a16="http://schemas.microsoft.com/office/drawing/2014/main" id="{12212C36-74B4-4BCD-9360-FA9E4DF3DACC}"/>
              </a:ext>
            </a:extLst>
          </p:cNvPr>
          <p:cNvSpPr>
            <a:spLocks noGrp="1"/>
          </p:cNvSpPr>
          <p:nvPr/>
        </p:nvSpPr>
        <p:spPr>
          <a:xfrm>
            <a:off x="6276975" y="3933825"/>
            <a:ext cx="2028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Mart</a:t>
            </a:r>
          </a:p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tables</a:t>
            </a:r>
          </a:p>
        </p:txBody>
      </p:sp>
      <p:sp>
        <p:nvSpPr>
          <p:cNvPr id="28" name="arch-step-body-5">
            <a:extLst>
              <a:ext uri="{FF2B5EF4-FFF2-40B4-BE49-F238E27FC236}">
                <a16:creationId xmlns:a16="http://schemas.microsoft.com/office/drawing/2014/main" id="{365B8D4D-4264-4E19-98AB-950BBE2F3B62}"/>
              </a:ext>
            </a:extLst>
          </p:cNvPr>
          <p:cNvSpPr>
            <a:spLocks noGrp="1"/>
          </p:cNvSpPr>
          <p:nvPr/>
        </p:nvSpPr>
        <p:spPr>
          <a:xfrm>
            <a:off x="6276975" y="4467225"/>
            <a:ext cx="2028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dim, facts, summary</a:t>
            </a:r>
          </a:p>
        </p:txBody>
      </p:sp>
      <p:sp>
        <p:nvSpPr>
          <p:cNvPr id="29" name="arch-arrow-5">
            <a:extLst>
              <a:ext uri="{FF2B5EF4-FFF2-40B4-BE49-F238E27FC236}">
                <a16:creationId xmlns:a16="http://schemas.microsoft.com/office/drawing/2014/main" id="{5811DA37-F5E0-48F5-9B79-DCC407C9449D}"/>
              </a:ext>
            </a:extLst>
          </p:cNvPr>
          <p:cNvSpPr>
            <a:spLocks noGrp="1"/>
          </p:cNvSpPr>
          <p:nvPr/>
        </p:nvSpPr>
        <p:spPr>
          <a:xfrm>
            <a:off x="8782050" y="41624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0">
                <a:solidFill>
                  <a:srgbClr val="FFB84D"/>
                </a:solidFill>
              </a:defRPr>
            </a:pPr>
            <a:r>
              <a:rPr sz="2250" b="0">
                <a:solidFill>
                  <a:srgbClr val="FFB84D"/>
                </a:solidFill>
              </a:rPr>
              <a:t>&gt;</a:t>
            </a:r>
          </a:p>
        </p:txBody>
      </p:sp>
      <p:sp>
        <p:nvSpPr>
          <p:cNvPr id="30" name="arch-step-6">
            <a:extLst>
              <a:ext uri="{FF2B5EF4-FFF2-40B4-BE49-F238E27FC236}">
                <a16:creationId xmlns:a16="http://schemas.microsoft.com/office/drawing/2014/main" id="{FB2652BC-42DF-47BD-BDD4-6F0D45865049}"/>
              </a:ext>
            </a:extLst>
          </p:cNvPr>
          <p:cNvSpPr>
            <a:spLocks noGrp="1"/>
          </p:cNvSpPr>
          <p:nvPr/>
        </p:nvSpPr>
        <p:spPr>
          <a:xfrm>
            <a:off x="8991600" y="3762375"/>
            <a:ext cx="2333625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1906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31" name="arch-step-title-6">
            <a:extLst>
              <a:ext uri="{FF2B5EF4-FFF2-40B4-BE49-F238E27FC236}">
                <a16:creationId xmlns:a16="http://schemas.microsoft.com/office/drawing/2014/main" id="{920DA986-3BEB-4481-8F4D-7768F0D2FEAA}"/>
              </a:ext>
            </a:extLst>
          </p:cNvPr>
          <p:cNvSpPr>
            <a:spLocks noGrp="1"/>
          </p:cNvSpPr>
          <p:nvPr/>
        </p:nvSpPr>
        <p:spPr>
          <a:xfrm>
            <a:off x="9144000" y="3933825"/>
            <a:ext cx="2028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Streamlit</a:t>
            </a:r>
          </a:p>
          <a:p>
            <a:pPr algn="ctr">
              <a:defRPr sz="1725" b="1">
                <a:solidFill>
                  <a:srgbClr val="143044"/>
                </a:solidFill>
              </a:defRPr>
            </a:pPr>
            <a:r>
              <a:rPr sz="1725" b="1">
                <a:solidFill>
                  <a:srgbClr val="143044"/>
                </a:solidFill>
              </a:rPr>
              <a:t>app</a:t>
            </a:r>
          </a:p>
        </p:txBody>
      </p:sp>
      <p:sp>
        <p:nvSpPr>
          <p:cNvPr id="32" name="arch-step-body-6">
            <a:extLst>
              <a:ext uri="{FF2B5EF4-FFF2-40B4-BE49-F238E27FC236}">
                <a16:creationId xmlns:a16="http://schemas.microsoft.com/office/drawing/2014/main" id="{CB21F0FC-8140-4E6E-B828-AB558C927B1C}"/>
              </a:ext>
            </a:extLst>
          </p:cNvPr>
          <p:cNvSpPr>
            <a:spLocks noGrp="1"/>
          </p:cNvSpPr>
          <p:nvPr/>
        </p:nvSpPr>
        <p:spPr>
          <a:xfrm>
            <a:off x="9144000" y="4467225"/>
            <a:ext cx="2028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Filters, charts, KPIs, table</a:t>
            </a:r>
          </a:p>
        </p:txBody>
      </p:sp>
      <p:sp>
        <p:nvSpPr>
          <p:cNvPr id="33" name="arch-down">
            <a:extLst>
              <a:ext uri="{FF2B5EF4-FFF2-40B4-BE49-F238E27FC236}">
                <a16:creationId xmlns:a16="http://schemas.microsoft.com/office/drawing/2014/main" id="{3A1FFCCA-0A09-465E-83E9-0746E7FE10D1}"/>
              </a:ext>
            </a:extLst>
          </p:cNvPr>
          <p:cNvSpPr>
            <a:spLocks noGrp="1"/>
          </p:cNvSpPr>
          <p:nvPr/>
        </p:nvSpPr>
        <p:spPr>
          <a:xfrm>
            <a:off x="8305800" y="3352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B84D"/>
                </a:solidFill>
              </a:defRPr>
            </a:pPr>
            <a:r>
              <a:rPr sz="1200" b="1">
                <a:solidFill>
                  <a:srgbClr val="FFB84D"/>
                </a:solidFill>
              </a:rPr>
              <a:t>dbt build path</a:t>
            </a:r>
          </a:p>
        </p:txBody>
      </p:sp>
      <p:sp>
        <p:nvSpPr>
          <p:cNvPr id="34" name="arch-bottom">
            <a:extLst>
              <a:ext uri="{FF2B5EF4-FFF2-40B4-BE49-F238E27FC236}">
                <a16:creationId xmlns:a16="http://schemas.microsoft.com/office/drawing/2014/main" id="{2C94C996-2EB8-4F09-81D7-ECFD61398618}"/>
              </a:ext>
            </a:extLst>
          </p:cNvPr>
          <p:cNvSpPr>
            <a:spLocks noGrp="1"/>
          </p:cNvSpPr>
          <p:nvPr/>
        </p:nvSpPr>
        <p:spPr>
          <a:xfrm>
            <a:off x="2352675" y="5391150"/>
            <a:ext cx="7486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143044"/>
                </a:solidFill>
              </a:defRPr>
            </a:pPr>
            <a:r>
              <a:rPr sz="1800" b="0">
                <a:solidFill>
                  <a:srgbClr val="143044"/>
                </a:solidFill>
              </a:rPr>
              <a:t>Design principle: raw files stay raw; business logic lives in dbt; the app consumes only final mart models.</a:t>
            </a:r>
          </a:p>
        </p:txBody>
      </p:sp>
    </p:spTree>
    <p:extLst>
      <p:ext uri="{BB962C8B-B14F-4D97-AF65-F5344CB8AC3E}">
        <p14:creationId xmlns:p14="http://schemas.microsoft.com/office/powerpoint/2010/main" val="908678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-wash-4">
            <a:extLst>
              <a:ext uri="{FF2B5EF4-FFF2-40B4-BE49-F238E27FC236}">
                <a16:creationId xmlns:a16="http://schemas.microsoft.com/office/drawing/2014/main" id="{8097EFC5-B035-4EC1-86CF-15B38F97D7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DDF2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ccent-rail-4">
            <a:extLst>
              <a:ext uri="{FF2B5EF4-FFF2-40B4-BE49-F238E27FC236}">
                <a16:creationId xmlns:a16="http://schemas.microsoft.com/office/drawing/2014/main" id="{7C03C407-DE57-427E-A3D5-E8CE65673F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-4">
            <a:extLst>
              <a:ext uri="{FF2B5EF4-FFF2-40B4-BE49-F238E27FC236}">
                <a16:creationId xmlns:a16="http://schemas.microsoft.com/office/drawing/2014/main" id="{FB7AFC4F-7679-4357-B54C-345A1E7ABE82}"/>
              </a:ext>
            </a:extLst>
          </p:cNvPr>
          <p:cNvSpPr>
            <a:spLocks noGrp="1"/>
          </p:cNvSpPr>
          <p:nvPr/>
        </p:nvSpPr>
        <p:spPr>
          <a:xfrm>
            <a:off x="495300" y="2095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A6B78"/>
                </a:solidFill>
              </a:defRPr>
            </a:pPr>
            <a:r>
              <a:rPr sz="900" b="1">
                <a:solidFill>
                  <a:srgbClr val="5A6B78"/>
                </a:solidFill>
              </a:rPr>
              <a:t>EXTRACTION</a:t>
            </a:r>
          </a:p>
        </p:txBody>
      </p:sp>
      <p:sp>
        <p:nvSpPr>
          <p:cNvPr id="4" name="title-4">
            <a:extLst>
              <a:ext uri="{FF2B5EF4-FFF2-40B4-BE49-F238E27FC236}">
                <a16:creationId xmlns:a16="http://schemas.microsoft.com/office/drawing/2014/main" id="{E1D733FA-2400-4ED9-B56E-14B1C949A75F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933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43044"/>
                </a:solidFill>
              </a:defRPr>
            </a:pPr>
            <a:r>
              <a:rPr sz="3000" b="1">
                <a:solidFill>
                  <a:srgbClr val="143044"/>
                </a:solidFill>
              </a:rPr>
              <a:t>Extraction creates reproducible raw files before any modeling</a:t>
            </a:r>
          </a:p>
        </p:txBody>
      </p:sp>
      <p:sp>
        <p:nvSpPr>
          <p:cNvPr id="5" name="footer-brand-4">
            <a:extLst>
              <a:ext uri="{FF2B5EF4-FFF2-40B4-BE49-F238E27FC236}">
                <a16:creationId xmlns:a16="http://schemas.microsoft.com/office/drawing/2014/main" id="{7B9A87B7-AA17-4C13-8D10-7701BCCF2223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A6B78"/>
                </a:solidFill>
              </a:defRPr>
            </a:pPr>
            <a:r>
              <a:rPr sz="975" b="1">
                <a:solidFill>
                  <a:srgbClr val="5A6B78"/>
                </a:solidFill>
              </a:rPr>
              <a:t>OPEN-METEO ANALYTICS</a:t>
            </a:r>
          </a:p>
        </p:txBody>
      </p:sp>
      <p:sp>
        <p:nvSpPr>
          <p:cNvPr id="6" name="footer-4">
            <a:extLst>
              <a:ext uri="{FF2B5EF4-FFF2-40B4-BE49-F238E27FC236}">
                <a16:creationId xmlns:a16="http://schemas.microsoft.com/office/drawing/2014/main" id="{FB4A7D0F-45E3-4C00-A0DD-A7EFFBAF6BE1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43044"/>
                </a:solidFill>
              </a:defRPr>
            </a:pPr>
            <a:r>
              <a:rPr sz="1125" b="0">
                <a:solidFill>
                  <a:srgbClr val="143044"/>
                </a:solidFill>
              </a:rPr>
              <a:t>04</a:t>
            </a:r>
          </a:p>
        </p:txBody>
      </p:sp>
      <p:sp>
        <p:nvSpPr>
          <p:cNvPr id="7" name="extract-left-label">
            <a:extLst>
              <a:ext uri="{FF2B5EF4-FFF2-40B4-BE49-F238E27FC236}">
                <a16:creationId xmlns:a16="http://schemas.microsoft.com/office/drawing/2014/main" id="{054F284C-86AD-4A14-8C44-AA4CB8C0D73F}"/>
              </a:ext>
            </a:extLst>
          </p:cNvPr>
          <p:cNvSpPr>
            <a:spLocks noGrp="1"/>
          </p:cNvSpPr>
          <p:nvPr/>
        </p:nvSpPr>
        <p:spPr>
          <a:xfrm>
            <a:off x="390525" y="15240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2A6A1"/>
                </a:solidFill>
              </a:defRPr>
            </a:pPr>
            <a:r>
              <a:rPr sz="1050" b="1">
                <a:solidFill>
                  <a:srgbClr val="22A6A1"/>
                </a:solidFill>
              </a:rPr>
              <a:t>COMMAND</a:t>
            </a:r>
          </a:p>
        </p:txBody>
      </p:sp>
      <p:sp>
        <p:nvSpPr>
          <p:cNvPr id="8" name="extract-command">
            <a:extLst>
              <a:ext uri="{FF2B5EF4-FFF2-40B4-BE49-F238E27FC236}">
                <a16:creationId xmlns:a16="http://schemas.microsoft.com/office/drawing/2014/main" id="{2ACB7938-12FA-47AD-A98E-5AE455DD4FD9}"/>
              </a:ext>
            </a:extLst>
          </p:cNvPr>
          <p:cNvSpPr>
            <a:spLocks noGrp="1"/>
          </p:cNvSpPr>
          <p:nvPr/>
        </p:nvSpPr>
        <p:spPr>
          <a:xfrm>
            <a:off x="390525" y="1905000"/>
            <a:ext cx="5381625" cy="1276350"/>
          </a:xfrm>
          <a:prstGeom prst="roundRect">
            <a:avLst>
              <a:gd name="adj" fmla="val 5970"/>
            </a:avLst>
          </a:prstGeom>
          <a:solidFill>
            <a:srgbClr val="EAF6FA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extract-command-text">
            <a:extLst>
              <a:ext uri="{FF2B5EF4-FFF2-40B4-BE49-F238E27FC236}">
                <a16:creationId xmlns:a16="http://schemas.microsoft.com/office/drawing/2014/main" id="{26A8C303-D1B9-4DB3-B490-B4A2D61BB6CD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4857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43044"/>
                </a:solidFill>
              </a:defRPr>
            </a:pPr>
            <a:r>
              <a:rPr sz="1725" b="0">
                <a:solidFill>
                  <a:srgbClr val="143044"/>
                </a:solidFill>
              </a:rPr>
              <a:t>uv run python scripts/extract_open_meteo.py --past-days 60 --forecast-days 7</a:t>
            </a:r>
          </a:p>
        </p:txBody>
      </p:sp>
      <p:sp>
        <p:nvSpPr>
          <p:cNvPr id="10" name="extract-right-label">
            <a:extLst>
              <a:ext uri="{FF2B5EF4-FFF2-40B4-BE49-F238E27FC236}">
                <a16:creationId xmlns:a16="http://schemas.microsoft.com/office/drawing/2014/main" id="{0A2A0E6C-DE4B-4156-AA03-4EE9CA56EED0}"/>
              </a:ext>
            </a:extLst>
          </p:cNvPr>
          <p:cNvSpPr>
            <a:spLocks noGrp="1"/>
          </p:cNvSpPr>
          <p:nvPr/>
        </p:nvSpPr>
        <p:spPr>
          <a:xfrm>
            <a:off x="6286500" y="15240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2A6A1"/>
                </a:solidFill>
              </a:defRPr>
            </a:pPr>
            <a:r>
              <a:rPr sz="1050" b="1">
                <a:solidFill>
                  <a:srgbClr val="22A6A1"/>
                </a:solidFill>
              </a:rPr>
              <a:t>RAW OUTPUTS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6286500" y="1905000"/>
          <a:ext cx="5505450" cy="2362200"/>
        </p:xfrm>
        <a:graphic>
          <a:graphicData uri="http://schemas.openxmlformats.org/drawingml/2006/table">
            <a:tbl>
              <a:tblPr firstRow="1" bandRow="1"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3044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D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3044"/>
                          </a:solidFill>
                        </a:rPr>
                        <a:t>Grain</a:t>
                      </a:r>
                    </a:p>
                  </a:txBody>
                  <a:tcPr>
                    <a:solidFill>
                      <a:srgbClr val="D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3044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D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3044"/>
                          </a:solidFill>
                        </a:rPr>
                        <a:t>raw_locations.csv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3044"/>
                          </a:solidFill>
                        </a:rPr>
                        <a:t>one 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3044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3044"/>
                          </a:solidFill>
                        </a:rPr>
                        <a:t>raw_weather_daily.csv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3044"/>
                          </a:solidFill>
                        </a:rPr>
                        <a:t>city +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3044"/>
                          </a:solidFill>
                        </a:rPr>
                        <a:t>305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3044"/>
                          </a:solidFill>
                        </a:rPr>
                        <a:t>raw_forecast_daily.csv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3044"/>
                          </a:solidFill>
                        </a:rPr>
                        <a:t>city + forecast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3044"/>
                          </a:solidFill>
                        </a:rP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3044"/>
                          </a:solidFill>
                        </a:rPr>
                        <a:t>raw_air_quality_hourly.csv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3044"/>
                          </a:solidFill>
                        </a:rPr>
                        <a:t>city +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3044"/>
                          </a:solidFill>
                        </a:rPr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extract-bullets">
            <a:extLst>
              <a:ext uri="{FF2B5EF4-FFF2-40B4-BE49-F238E27FC236}">
                <a16:creationId xmlns:a16="http://schemas.microsoft.com/office/drawing/2014/main" id="{1153769A-F81F-4854-967C-81A544E1260F}"/>
              </a:ext>
            </a:extLst>
          </p:cNvPr>
          <p:cNvSpPr>
            <a:spLocks noGrp="1"/>
          </p:cNvSpPr>
          <p:nvPr/>
        </p:nvSpPr>
        <p:spPr>
          <a:xfrm>
            <a:off x="390525" y="4133850"/>
            <a:ext cx="56197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43044"/>
                </a:solidFill>
              </a:defRPr>
            </a:pPr>
            <a:r>
              <a:rPr sz="1650" b="0">
                <a:solidFill>
                  <a:srgbClr val="143044"/>
                </a:solidFill>
              </a:rPr>
              <a:t>• Geocoding converts city names into latitude and longitude.</a:t>
            </a:r>
          </a:p>
          <a:p>
            <a:pPr algn="l">
              <a:defRPr sz="1650" b="0">
                <a:solidFill>
                  <a:srgbClr val="143044"/>
                </a:solidFill>
              </a:defRPr>
            </a:pPr>
            <a:r>
              <a:rPr sz="1650" b="0">
                <a:solidFill>
                  <a:srgbClr val="143044"/>
                </a:solidFill>
              </a:rPr>
              <a:t>• The Forecast API supplies recent daily weather and forecast data without an API key.</a:t>
            </a:r>
          </a:p>
          <a:p>
            <a:pPr algn="l">
              <a:defRPr sz="1650" b="0">
                <a:solidFill>
                  <a:srgbClr val="143044"/>
                </a:solidFill>
              </a:defRPr>
            </a:pPr>
            <a:r>
              <a:rPr sz="1650" b="0">
                <a:solidFill>
                  <a:srgbClr val="143044"/>
                </a:solidFill>
              </a:rPr>
              <a:t>• Hourly air-quality data is intentionally kept raw before daily rollup.</a:t>
            </a:r>
          </a:p>
        </p:txBody>
      </p:sp>
      <p:sp>
        <p:nvSpPr>
          <p:cNvPr id="13" name="extract-note">
            <a:extLst>
              <a:ext uri="{FF2B5EF4-FFF2-40B4-BE49-F238E27FC236}">
                <a16:creationId xmlns:a16="http://schemas.microsoft.com/office/drawing/2014/main" id="{B6C3C73B-AE4C-412B-8546-5882CDDDBC95}"/>
              </a:ext>
            </a:extLst>
          </p:cNvPr>
          <p:cNvSpPr>
            <a:spLocks noGrp="1"/>
          </p:cNvSpPr>
          <p:nvPr/>
        </p:nvSpPr>
        <p:spPr>
          <a:xfrm>
            <a:off x="6286500" y="4762500"/>
            <a:ext cx="5048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43044"/>
                </a:solidFill>
              </a:defRPr>
            </a:pPr>
            <a:r>
              <a:rPr sz="1800" b="0">
                <a:solidFill>
                  <a:srgbClr val="143044"/>
                </a:solidFill>
              </a:rPr>
              <a:t>Raw files can be refreshed, but dbt is responsible for enforcing model grains and business definitions.</a:t>
            </a:r>
          </a:p>
        </p:txBody>
      </p:sp>
    </p:spTree>
    <p:extLst>
      <p:ext uri="{BB962C8B-B14F-4D97-AF65-F5344CB8AC3E}">
        <p14:creationId xmlns:p14="http://schemas.microsoft.com/office/powerpoint/2010/main" val="203036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wash-5">
            <a:extLst>
              <a:ext uri="{FF2B5EF4-FFF2-40B4-BE49-F238E27FC236}">
                <a16:creationId xmlns:a16="http://schemas.microsoft.com/office/drawing/2014/main" id="{7AD06408-D773-42AB-9D12-E05414FB6A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DDF2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ccent-rail-5">
            <a:extLst>
              <a:ext uri="{FF2B5EF4-FFF2-40B4-BE49-F238E27FC236}">
                <a16:creationId xmlns:a16="http://schemas.microsoft.com/office/drawing/2014/main" id="{69328D73-09A1-42F3-AEA2-D92E1C7468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-5">
            <a:extLst>
              <a:ext uri="{FF2B5EF4-FFF2-40B4-BE49-F238E27FC236}">
                <a16:creationId xmlns:a16="http://schemas.microsoft.com/office/drawing/2014/main" id="{73CDE894-6AFE-4CE7-9C4F-3A3E6D2F1C39}"/>
              </a:ext>
            </a:extLst>
          </p:cNvPr>
          <p:cNvSpPr>
            <a:spLocks noGrp="1"/>
          </p:cNvSpPr>
          <p:nvPr/>
        </p:nvSpPr>
        <p:spPr>
          <a:xfrm>
            <a:off x="495300" y="2095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A6B78"/>
                </a:solidFill>
              </a:defRPr>
            </a:pPr>
            <a:r>
              <a:rPr sz="900" b="1">
                <a:solidFill>
                  <a:srgbClr val="5A6B78"/>
                </a:solidFill>
              </a:rPr>
              <a:t>DBT MODELING</a:t>
            </a:r>
          </a:p>
        </p:txBody>
      </p:sp>
      <p:sp>
        <p:nvSpPr>
          <p:cNvPr id="4" name="title-5">
            <a:extLst>
              <a:ext uri="{FF2B5EF4-FFF2-40B4-BE49-F238E27FC236}">
                <a16:creationId xmlns:a16="http://schemas.microsoft.com/office/drawing/2014/main" id="{0182D556-ACD2-4EDF-94DB-D435DD96F492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933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43044"/>
                </a:solidFill>
              </a:defRPr>
            </a:pPr>
            <a:r>
              <a:rPr sz="3000" b="1">
                <a:solidFill>
                  <a:srgbClr val="143044"/>
                </a:solidFill>
              </a:rPr>
              <a:t>dbt separates technical cleanup from analytical meaning</a:t>
            </a:r>
          </a:p>
        </p:txBody>
      </p:sp>
      <p:sp>
        <p:nvSpPr>
          <p:cNvPr id="5" name="footer-brand-5">
            <a:extLst>
              <a:ext uri="{FF2B5EF4-FFF2-40B4-BE49-F238E27FC236}">
                <a16:creationId xmlns:a16="http://schemas.microsoft.com/office/drawing/2014/main" id="{281728F8-9C6F-4AAC-8D5A-A02867B9433B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A6B78"/>
                </a:solidFill>
              </a:defRPr>
            </a:pPr>
            <a:r>
              <a:rPr sz="975" b="1">
                <a:solidFill>
                  <a:srgbClr val="5A6B78"/>
                </a:solidFill>
              </a:rPr>
              <a:t>OPEN-METEO ANALYTICS</a:t>
            </a:r>
          </a:p>
        </p:txBody>
      </p:sp>
      <p:sp>
        <p:nvSpPr>
          <p:cNvPr id="6" name="footer-5">
            <a:extLst>
              <a:ext uri="{FF2B5EF4-FFF2-40B4-BE49-F238E27FC236}">
                <a16:creationId xmlns:a16="http://schemas.microsoft.com/office/drawing/2014/main" id="{E8D5DBB1-E864-453B-8D2E-DCECFE8BE18C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43044"/>
                </a:solidFill>
              </a:defRPr>
            </a:pPr>
            <a:r>
              <a:rPr sz="1125" b="0">
                <a:solidFill>
                  <a:srgbClr val="143044"/>
                </a:solidFill>
              </a:rPr>
              <a:t>05</a:t>
            </a:r>
          </a:p>
        </p:txBody>
      </p:sp>
      <p:sp>
        <p:nvSpPr>
          <p:cNvPr id="7" name="layer-panel-0">
            <a:extLst>
              <a:ext uri="{FF2B5EF4-FFF2-40B4-BE49-F238E27FC236}">
                <a16:creationId xmlns:a16="http://schemas.microsoft.com/office/drawing/2014/main" id="{C9EE9D58-C41B-48FC-8D68-54301E2EADE7}"/>
              </a:ext>
            </a:extLst>
          </p:cNvPr>
          <p:cNvSpPr>
            <a:spLocks noGrp="1"/>
          </p:cNvSpPr>
          <p:nvPr/>
        </p:nvSpPr>
        <p:spPr>
          <a:xfrm>
            <a:off x="6267450" y="1600200"/>
            <a:ext cx="55340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layer-name-0">
            <a:extLst>
              <a:ext uri="{FF2B5EF4-FFF2-40B4-BE49-F238E27FC236}">
                <a16:creationId xmlns:a16="http://schemas.microsoft.com/office/drawing/2014/main" id="{1C9C3E3C-7E74-4962-BB7A-59A180B7F64C}"/>
              </a:ext>
            </a:extLst>
          </p:cNvPr>
          <p:cNvSpPr>
            <a:spLocks noGrp="1"/>
          </p:cNvSpPr>
          <p:nvPr/>
        </p:nvSpPr>
        <p:spPr>
          <a:xfrm>
            <a:off x="390525" y="16764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0">
                <a:solidFill>
                  <a:srgbClr val="143044"/>
                </a:solidFill>
              </a:defRPr>
            </a:pPr>
            <a:r>
              <a:rPr sz="2700" b="0">
                <a:solidFill>
                  <a:srgbClr val="143044"/>
                </a:solidFill>
              </a:rPr>
              <a:t>Staging</a:t>
            </a:r>
          </a:p>
        </p:txBody>
      </p:sp>
      <p:sp>
        <p:nvSpPr>
          <p:cNvPr id="9" name="layer-count-0">
            <a:extLst>
              <a:ext uri="{FF2B5EF4-FFF2-40B4-BE49-F238E27FC236}">
                <a16:creationId xmlns:a16="http://schemas.microsoft.com/office/drawing/2014/main" id="{B8A8F248-746D-4EAE-A60A-4DD2B4AC0D5D}"/>
              </a:ext>
            </a:extLst>
          </p:cNvPr>
          <p:cNvSpPr>
            <a:spLocks noGrp="1"/>
          </p:cNvSpPr>
          <p:nvPr/>
        </p:nvSpPr>
        <p:spPr>
          <a:xfrm>
            <a:off x="3429000" y="177165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FFB84D"/>
                </a:solidFill>
              </a:defRPr>
            </a:pPr>
            <a:r>
              <a:rPr sz="1950" b="0">
                <a:solidFill>
                  <a:srgbClr val="FFB84D"/>
                </a:solidFill>
              </a:rPr>
              <a:t>4 views</a:t>
            </a:r>
          </a:p>
        </p:txBody>
      </p:sp>
      <p:sp>
        <p:nvSpPr>
          <p:cNvPr id="10" name="layer-desc-0">
            <a:extLst>
              <a:ext uri="{FF2B5EF4-FFF2-40B4-BE49-F238E27FC236}">
                <a16:creationId xmlns:a16="http://schemas.microsoft.com/office/drawing/2014/main" id="{439160EE-A846-4DFB-89EE-BFF2A7B4429E}"/>
              </a:ext>
            </a:extLst>
          </p:cNvPr>
          <p:cNvSpPr>
            <a:spLocks noGrp="1"/>
          </p:cNvSpPr>
          <p:nvPr/>
        </p:nvSpPr>
        <p:spPr>
          <a:xfrm>
            <a:off x="6572250" y="1866900"/>
            <a:ext cx="485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43044"/>
                </a:solidFill>
              </a:defRPr>
            </a:pPr>
            <a:r>
              <a:rPr sz="1500" b="0">
                <a:solidFill>
                  <a:srgbClr val="143044"/>
                </a:solidFill>
              </a:rPr>
              <a:t>Snake-case names, type casts, deduplication, source grain preserved.</a:t>
            </a:r>
          </a:p>
        </p:txBody>
      </p:sp>
      <p:sp>
        <p:nvSpPr>
          <p:cNvPr id="11" name="layer-panel-1">
            <a:extLst>
              <a:ext uri="{FF2B5EF4-FFF2-40B4-BE49-F238E27FC236}">
                <a16:creationId xmlns:a16="http://schemas.microsoft.com/office/drawing/2014/main" id="{3C2D383E-9ADE-4935-B711-F97DB14FC58C}"/>
              </a:ext>
            </a:extLst>
          </p:cNvPr>
          <p:cNvSpPr>
            <a:spLocks noGrp="1"/>
          </p:cNvSpPr>
          <p:nvPr/>
        </p:nvSpPr>
        <p:spPr>
          <a:xfrm>
            <a:off x="6267450" y="3105150"/>
            <a:ext cx="55340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layer-name-1">
            <a:extLst>
              <a:ext uri="{FF2B5EF4-FFF2-40B4-BE49-F238E27FC236}">
                <a16:creationId xmlns:a16="http://schemas.microsoft.com/office/drawing/2014/main" id="{F9E88325-4713-4A69-BF2B-BA26BF62ACBE}"/>
              </a:ext>
            </a:extLst>
          </p:cNvPr>
          <p:cNvSpPr>
            <a:spLocks noGrp="1"/>
          </p:cNvSpPr>
          <p:nvPr/>
        </p:nvSpPr>
        <p:spPr>
          <a:xfrm>
            <a:off x="390525" y="31813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0">
                <a:solidFill>
                  <a:srgbClr val="143044"/>
                </a:solidFill>
              </a:defRPr>
            </a:pPr>
            <a:r>
              <a:rPr sz="2700" b="0">
                <a:solidFill>
                  <a:srgbClr val="143044"/>
                </a:solidFill>
              </a:rPr>
              <a:t>Intermediate</a:t>
            </a:r>
          </a:p>
        </p:txBody>
      </p:sp>
      <p:sp>
        <p:nvSpPr>
          <p:cNvPr id="13" name="layer-count-1">
            <a:extLst>
              <a:ext uri="{FF2B5EF4-FFF2-40B4-BE49-F238E27FC236}">
                <a16:creationId xmlns:a16="http://schemas.microsoft.com/office/drawing/2014/main" id="{1CE50546-DBC8-4AA7-8CBD-298E72D2FDA2}"/>
              </a:ext>
            </a:extLst>
          </p:cNvPr>
          <p:cNvSpPr>
            <a:spLocks noGrp="1"/>
          </p:cNvSpPr>
          <p:nvPr/>
        </p:nvSpPr>
        <p:spPr>
          <a:xfrm>
            <a:off x="3429000" y="32766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FFB84D"/>
                </a:solidFill>
              </a:defRPr>
            </a:pPr>
            <a:r>
              <a:rPr sz="1950" b="0">
                <a:solidFill>
                  <a:srgbClr val="FFB84D"/>
                </a:solidFill>
              </a:rPr>
              <a:t>3 views</a:t>
            </a:r>
          </a:p>
        </p:txBody>
      </p:sp>
      <p:sp>
        <p:nvSpPr>
          <p:cNvPr id="14" name="layer-desc-1">
            <a:extLst>
              <a:ext uri="{FF2B5EF4-FFF2-40B4-BE49-F238E27FC236}">
                <a16:creationId xmlns:a16="http://schemas.microsoft.com/office/drawing/2014/main" id="{4E000862-DFC2-48DC-A455-9DC5FA81BD45}"/>
              </a:ext>
            </a:extLst>
          </p:cNvPr>
          <p:cNvSpPr>
            <a:spLocks noGrp="1"/>
          </p:cNvSpPr>
          <p:nvPr/>
        </p:nvSpPr>
        <p:spPr>
          <a:xfrm>
            <a:off x="6572250" y="3371850"/>
            <a:ext cx="485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43044"/>
                </a:solidFill>
              </a:defRPr>
            </a:pPr>
            <a:r>
              <a:rPr sz="1500" b="0">
                <a:solidFill>
                  <a:srgbClr val="143044"/>
                </a:solidFill>
              </a:rPr>
              <a:t>Hourly AQ becomes daily; weather joins locations and AQ; flags define rainy, hot, windy, poor AQ, and comfortable days.</a:t>
            </a:r>
          </a:p>
        </p:txBody>
      </p:sp>
      <p:sp>
        <p:nvSpPr>
          <p:cNvPr id="15" name="layer-panel-2">
            <a:extLst>
              <a:ext uri="{FF2B5EF4-FFF2-40B4-BE49-F238E27FC236}">
                <a16:creationId xmlns:a16="http://schemas.microsoft.com/office/drawing/2014/main" id="{6F11EC0B-99B6-43E9-BEB3-8D244FDFF675}"/>
              </a:ext>
            </a:extLst>
          </p:cNvPr>
          <p:cNvSpPr>
            <a:spLocks noGrp="1"/>
          </p:cNvSpPr>
          <p:nvPr/>
        </p:nvSpPr>
        <p:spPr>
          <a:xfrm>
            <a:off x="6267450" y="4610100"/>
            <a:ext cx="55340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layer-name-2">
            <a:extLst>
              <a:ext uri="{FF2B5EF4-FFF2-40B4-BE49-F238E27FC236}">
                <a16:creationId xmlns:a16="http://schemas.microsoft.com/office/drawing/2014/main" id="{DF31F69D-92A4-440D-A610-2D0BEF0185DB}"/>
              </a:ext>
            </a:extLst>
          </p:cNvPr>
          <p:cNvSpPr>
            <a:spLocks noGrp="1"/>
          </p:cNvSpPr>
          <p:nvPr/>
        </p:nvSpPr>
        <p:spPr>
          <a:xfrm>
            <a:off x="390525" y="46863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0">
                <a:solidFill>
                  <a:srgbClr val="143044"/>
                </a:solidFill>
              </a:defRPr>
            </a:pPr>
            <a:r>
              <a:rPr sz="2700" b="0">
                <a:solidFill>
                  <a:srgbClr val="143044"/>
                </a:solidFill>
              </a:rPr>
              <a:t>Marts</a:t>
            </a:r>
          </a:p>
        </p:txBody>
      </p:sp>
      <p:sp>
        <p:nvSpPr>
          <p:cNvPr id="17" name="layer-count-2">
            <a:extLst>
              <a:ext uri="{FF2B5EF4-FFF2-40B4-BE49-F238E27FC236}">
                <a16:creationId xmlns:a16="http://schemas.microsoft.com/office/drawing/2014/main" id="{6D7E1B6B-504A-4502-8C4E-92243CBA7258}"/>
              </a:ext>
            </a:extLst>
          </p:cNvPr>
          <p:cNvSpPr>
            <a:spLocks noGrp="1"/>
          </p:cNvSpPr>
          <p:nvPr/>
        </p:nvSpPr>
        <p:spPr>
          <a:xfrm>
            <a:off x="3429000" y="478155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FFB84D"/>
                </a:solidFill>
              </a:defRPr>
            </a:pPr>
            <a:r>
              <a:rPr sz="1950" b="0">
                <a:solidFill>
                  <a:srgbClr val="FFB84D"/>
                </a:solidFill>
              </a:rPr>
              <a:t>4 tables</a:t>
            </a:r>
          </a:p>
        </p:txBody>
      </p:sp>
      <p:sp>
        <p:nvSpPr>
          <p:cNvPr id="18" name="layer-desc-2">
            <a:extLst>
              <a:ext uri="{FF2B5EF4-FFF2-40B4-BE49-F238E27FC236}">
                <a16:creationId xmlns:a16="http://schemas.microsoft.com/office/drawing/2014/main" id="{57AFCD9D-45B3-4AC8-AA4F-5511A78B3C99}"/>
              </a:ext>
            </a:extLst>
          </p:cNvPr>
          <p:cNvSpPr>
            <a:spLocks noGrp="1"/>
          </p:cNvSpPr>
          <p:nvPr/>
        </p:nvSpPr>
        <p:spPr>
          <a:xfrm>
            <a:off x="6572250" y="4876800"/>
            <a:ext cx="4857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43044"/>
                </a:solidFill>
              </a:defRPr>
            </a:pPr>
            <a:r>
              <a:rPr sz="1500" b="0">
                <a:solidFill>
                  <a:srgbClr val="143044"/>
                </a:solidFill>
              </a:rPr>
              <a:t>Stable dimension, two facts, and one city summary mart power the dashboard.</a:t>
            </a:r>
          </a:p>
        </p:txBody>
      </p:sp>
      <p:sp>
        <p:nvSpPr>
          <p:cNvPr id="19" name="layer-config">
            <a:extLst>
              <a:ext uri="{FF2B5EF4-FFF2-40B4-BE49-F238E27FC236}">
                <a16:creationId xmlns:a16="http://schemas.microsoft.com/office/drawing/2014/main" id="{AB42CA75-B198-4C84-9AC8-66CDB06A2F80}"/>
              </a:ext>
            </a:extLst>
          </p:cNvPr>
          <p:cNvSpPr>
            <a:spLocks noGrp="1"/>
          </p:cNvSpPr>
          <p:nvPr/>
        </p:nvSpPr>
        <p:spPr>
          <a:xfrm>
            <a:off x="390525" y="6057900"/>
            <a:ext cx="809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A6B78"/>
                </a:solidFill>
              </a:defRPr>
            </a:pPr>
            <a:r>
              <a:rPr sz="1350" b="0">
                <a:solidFill>
                  <a:srgbClr val="5A6B78"/>
                </a:solidFill>
              </a:rPr>
              <a:t>Materialization choice: staging and intermediate models are views; marts are tables in open_meteo.duckdb.</a:t>
            </a:r>
          </a:p>
        </p:txBody>
      </p:sp>
    </p:spTree>
    <p:extLst>
      <p:ext uri="{BB962C8B-B14F-4D97-AF65-F5344CB8AC3E}">
        <p14:creationId xmlns:p14="http://schemas.microsoft.com/office/powerpoint/2010/main" val="662374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p-wash-6">
            <a:extLst>
              <a:ext uri="{FF2B5EF4-FFF2-40B4-BE49-F238E27FC236}">
                <a16:creationId xmlns:a16="http://schemas.microsoft.com/office/drawing/2014/main" id="{93A537F6-972C-4054-9C89-38253B165A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DDF2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ccent-rail-6">
            <a:extLst>
              <a:ext uri="{FF2B5EF4-FFF2-40B4-BE49-F238E27FC236}">
                <a16:creationId xmlns:a16="http://schemas.microsoft.com/office/drawing/2014/main" id="{AB46672E-27F3-40CB-8818-16F7E1953E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-6">
            <a:extLst>
              <a:ext uri="{FF2B5EF4-FFF2-40B4-BE49-F238E27FC236}">
                <a16:creationId xmlns:a16="http://schemas.microsoft.com/office/drawing/2014/main" id="{F9CBFC63-9228-4ACD-A3AA-889EA2F21A7A}"/>
              </a:ext>
            </a:extLst>
          </p:cNvPr>
          <p:cNvSpPr>
            <a:spLocks noGrp="1"/>
          </p:cNvSpPr>
          <p:nvPr/>
        </p:nvSpPr>
        <p:spPr>
          <a:xfrm>
            <a:off x="495300" y="2095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A6B78"/>
                </a:solidFill>
              </a:defRPr>
            </a:pPr>
            <a:r>
              <a:rPr sz="900" b="1">
                <a:solidFill>
                  <a:srgbClr val="5A6B78"/>
                </a:solidFill>
              </a:rPr>
              <a:t>MODEL INVENTORY</a:t>
            </a:r>
          </a:p>
        </p:txBody>
      </p:sp>
      <p:sp>
        <p:nvSpPr>
          <p:cNvPr id="4" name="title-6">
            <a:extLst>
              <a:ext uri="{FF2B5EF4-FFF2-40B4-BE49-F238E27FC236}">
                <a16:creationId xmlns:a16="http://schemas.microsoft.com/office/drawing/2014/main" id="{39AB2969-1D5D-49C6-A4D7-2B8CB7057FFB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933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43044"/>
                </a:solidFill>
              </a:defRPr>
            </a:pPr>
            <a:r>
              <a:rPr sz="3000" b="1">
                <a:solidFill>
                  <a:srgbClr val="143044"/>
                </a:solidFill>
              </a:rPr>
              <a:t>The final model inventory covers every required analytics layer</a:t>
            </a:r>
          </a:p>
        </p:txBody>
      </p:sp>
      <p:sp>
        <p:nvSpPr>
          <p:cNvPr id="5" name="footer-brand-6">
            <a:extLst>
              <a:ext uri="{FF2B5EF4-FFF2-40B4-BE49-F238E27FC236}">
                <a16:creationId xmlns:a16="http://schemas.microsoft.com/office/drawing/2014/main" id="{783AD8AC-B123-4331-AFA3-B1DA74BBE04F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A6B78"/>
                </a:solidFill>
              </a:defRPr>
            </a:pPr>
            <a:r>
              <a:rPr sz="975" b="1">
                <a:solidFill>
                  <a:srgbClr val="5A6B78"/>
                </a:solidFill>
              </a:rPr>
              <a:t>OPEN-METEO ANALYTICS</a:t>
            </a:r>
          </a:p>
        </p:txBody>
      </p:sp>
      <p:sp>
        <p:nvSpPr>
          <p:cNvPr id="6" name="footer-6">
            <a:extLst>
              <a:ext uri="{FF2B5EF4-FFF2-40B4-BE49-F238E27FC236}">
                <a16:creationId xmlns:a16="http://schemas.microsoft.com/office/drawing/2014/main" id="{1E3A28BC-FFA3-4790-9BEF-E2D5587CA946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43044"/>
                </a:solidFill>
              </a:defRPr>
            </a:pPr>
            <a:r>
              <a:rPr sz="1125" b="0">
                <a:solidFill>
                  <a:srgbClr val="143044"/>
                </a:solidFill>
              </a:rPr>
              <a:t>06</a:t>
            </a:r>
          </a:p>
        </p:txBody>
      </p:sp>
      <p:graphicFrame>
        <p:nvGraphicFramePr>
          <p:cNvPr id="30" name="Table 29"/>
          <p:cNvGraphicFramePr/>
          <p:nvPr>
            <p:extLst>
              <p:ext uri="{D42A27DB-BD31-4B8C-83A1-F6EECF244321}">
                <p14:modId xmlns:p14="http://schemas.microsoft.com/office/powerpoint/2010/main" val="3691008832"/>
              </p:ext>
            </p:extLst>
          </p:nvPr>
        </p:nvGraphicFramePr>
        <p:xfrm>
          <a:off x="390525" y="1657350"/>
          <a:ext cx="11401425" cy="2952750"/>
        </p:xfrm>
        <a:graphic>
          <a:graphicData uri="http://schemas.openxmlformats.org/drawingml/2006/table">
            <a:tbl>
              <a:tblPr firstRow="1" band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43044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DD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43044"/>
                          </a:solidFill>
                        </a:rPr>
                        <a:t>Models</a:t>
                      </a:r>
                    </a:p>
                  </a:txBody>
                  <a:tcPr>
                    <a:solidFill>
                      <a:srgbClr val="DD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43044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D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43044"/>
                          </a:solidFill>
                        </a:rPr>
                        <a:t>Staging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43044"/>
                          </a:solidFill>
                        </a:rPr>
                        <a:t>stg_locations, stg_weather_daily, stg_forecast_daily, stg_air_quality_hourly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43044"/>
                          </a:solidFill>
                        </a:rPr>
                        <a:t>Clean raw API-shaped columns while preserving source grain.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43044"/>
                          </a:solidFill>
                        </a:rPr>
                        <a:t>Intermediate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43044"/>
                          </a:solidFill>
                        </a:rPr>
                        <a:t>int_air_quality_daily, int_city_day_weather, int_weather_flags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43044"/>
                          </a:solidFill>
                        </a:rPr>
                        <a:t>Roll up, join, and apply weather/comfort logic.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43044"/>
                          </a:solidFill>
                        </a:rPr>
                        <a:t>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43044"/>
                          </a:solidFill>
                        </a:rPr>
                        <a:t>dim_location, fct_city_weather_day, fct_air_quality_city_day, mart_city_weather_summary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43044"/>
                          </a:solidFill>
                        </a:rPr>
                        <a:t>Expose stable dashboard tables with clear grains.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143044"/>
                          </a:solidFill>
                        </a:rPr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43044"/>
                          </a:solidFill>
                        </a:rPr>
                        <a:t>schema tests plus five custom SQL assertions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143044"/>
                          </a:solidFill>
                        </a:rPr>
                        <a:t>Check uniqueness, not-null rules, accepted ranges, and mart readiness.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metric-card-inventory-1">
            <a:extLst>
              <a:ext uri="{FF2B5EF4-FFF2-40B4-BE49-F238E27FC236}">
                <a16:creationId xmlns:a16="http://schemas.microsoft.com/office/drawing/2014/main" id="{C1E006AD-CBDE-40CE-9239-986BF03CF013}"/>
              </a:ext>
            </a:extLst>
          </p:cNvPr>
          <p:cNvSpPr>
            <a:spLocks noGrp="1"/>
          </p:cNvSpPr>
          <p:nvPr/>
        </p:nvSpPr>
        <p:spPr>
          <a:xfrm>
            <a:off x="390525" y="5048250"/>
            <a:ext cx="2333625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metric-accent-inventory-1">
            <a:extLst>
              <a:ext uri="{FF2B5EF4-FFF2-40B4-BE49-F238E27FC236}">
                <a16:creationId xmlns:a16="http://schemas.microsoft.com/office/drawing/2014/main" id="{879D0181-A8A6-410C-AD90-034F2E642488}"/>
              </a:ext>
            </a:extLst>
          </p:cNvPr>
          <p:cNvSpPr>
            <a:spLocks noGrp="1"/>
          </p:cNvSpPr>
          <p:nvPr/>
        </p:nvSpPr>
        <p:spPr>
          <a:xfrm>
            <a:off x="390525" y="5048250"/>
            <a:ext cx="66675" cy="120015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metric-stat-inventory-1">
            <a:extLst>
              <a:ext uri="{FF2B5EF4-FFF2-40B4-BE49-F238E27FC236}">
                <a16:creationId xmlns:a16="http://schemas.microsoft.com/office/drawing/2014/main" id="{ECA4B4A4-B4E1-4234-AC78-548B7D3AEB5E}"/>
              </a:ext>
            </a:extLst>
          </p:cNvPr>
          <p:cNvSpPr>
            <a:spLocks noGrp="1"/>
          </p:cNvSpPr>
          <p:nvPr/>
        </p:nvSpPr>
        <p:spPr>
          <a:xfrm>
            <a:off x="619125" y="5276850"/>
            <a:ext cx="18764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43044"/>
                </a:solidFill>
              </a:defRPr>
            </a:pPr>
            <a:r>
              <a:rPr sz="3150" b="1">
                <a:solidFill>
                  <a:srgbClr val="143044"/>
                </a:solidFill>
              </a:rPr>
              <a:t>4</a:t>
            </a:r>
          </a:p>
        </p:txBody>
      </p:sp>
      <p:sp>
        <p:nvSpPr>
          <p:cNvPr id="11" name="metric-label-inventory-1">
            <a:extLst>
              <a:ext uri="{FF2B5EF4-FFF2-40B4-BE49-F238E27FC236}">
                <a16:creationId xmlns:a16="http://schemas.microsoft.com/office/drawing/2014/main" id="{6F81A303-F5B0-4C68-A547-2F75CD5C3628}"/>
              </a:ext>
            </a:extLst>
          </p:cNvPr>
          <p:cNvSpPr>
            <a:spLocks noGrp="1"/>
          </p:cNvSpPr>
          <p:nvPr/>
        </p:nvSpPr>
        <p:spPr>
          <a:xfrm>
            <a:off x="638175" y="5848350"/>
            <a:ext cx="18383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staging views</a:t>
            </a:r>
          </a:p>
        </p:txBody>
      </p:sp>
      <p:sp>
        <p:nvSpPr>
          <p:cNvPr id="12" name="metric-card-inventory-2">
            <a:extLst>
              <a:ext uri="{FF2B5EF4-FFF2-40B4-BE49-F238E27FC236}">
                <a16:creationId xmlns:a16="http://schemas.microsoft.com/office/drawing/2014/main" id="{F14C1261-8226-4F71-AA1B-CDDE852D81E5}"/>
              </a:ext>
            </a:extLst>
          </p:cNvPr>
          <p:cNvSpPr>
            <a:spLocks noGrp="1"/>
          </p:cNvSpPr>
          <p:nvPr/>
        </p:nvSpPr>
        <p:spPr>
          <a:xfrm>
            <a:off x="2971800" y="5048250"/>
            <a:ext cx="2333625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metric-accent-inventory-2">
            <a:extLst>
              <a:ext uri="{FF2B5EF4-FFF2-40B4-BE49-F238E27FC236}">
                <a16:creationId xmlns:a16="http://schemas.microsoft.com/office/drawing/2014/main" id="{744E94DA-9130-490B-BF5C-C3D6585A0F91}"/>
              </a:ext>
            </a:extLst>
          </p:cNvPr>
          <p:cNvSpPr>
            <a:spLocks noGrp="1"/>
          </p:cNvSpPr>
          <p:nvPr/>
        </p:nvSpPr>
        <p:spPr>
          <a:xfrm>
            <a:off x="2971800" y="5048250"/>
            <a:ext cx="66675" cy="120015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metric-stat-inventory-2">
            <a:extLst>
              <a:ext uri="{FF2B5EF4-FFF2-40B4-BE49-F238E27FC236}">
                <a16:creationId xmlns:a16="http://schemas.microsoft.com/office/drawing/2014/main" id="{EBB29D11-6B1E-488B-BBE9-1C132D4AC4FC}"/>
              </a:ext>
            </a:extLst>
          </p:cNvPr>
          <p:cNvSpPr>
            <a:spLocks noGrp="1"/>
          </p:cNvSpPr>
          <p:nvPr/>
        </p:nvSpPr>
        <p:spPr>
          <a:xfrm>
            <a:off x="3200400" y="5276850"/>
            <a:ext cx="18764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43044"/>
                </a:solidFill>
              </a:defRPr>
            </a:pPr>
            <a:r>
              <a:rPr sz="3150" b="1">
                <a:solidFill>
                  <a:srgbClr val="143044"/>
                </a:solidFill>
              </a:rPr>
              <a:t>3</a:t>
            </a:r>
          </a:p>
        </p:txBody>
      </p:sp>
      <p:sp>
        <p:nvSpPr>
          <p:cNvPr id="15" name="metric-label-inventory-2">
            <a:extLst>
              <a:ext uri="{FF2B5EF4-FFF2-40B4-BE49-F238E27FC236}">
                <a16:creationId xmlns:a16="http://schemas.microsoft.com/office/drawing/2014/main" id="{1D7B8AFE-CC41-4AD5-958B-2EEE970D1D27}"/>
              </a:ext>
            </a:extLst>
          </p:cNvPr>
          <p:cNvSpPr>
            <a:spLocks noGrp="1"/>
          </p:cNvSpPr>
          <p:nvPr/>
        </p:nvSpPr>
        <p:spPr>
          <a:xfrm>
            <a:off x="3219450" y="5848350"/>
            <a:ext cx="18383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intermediate views</a:t>
            </a:r>
          </a:p>
        </p:txBody>
      </p:sp>
      <p:sp>
        <p:nvSpPr>
          <p:cNvPr id="16" name="metric-card-inventory-3">
            <a:extLst>
              <a:ext uri="{FF2B5EF4-FFF2-40B4-BE49-F238E27FC236}">
                <a16:creationId xmlns:a16="http://schemas.microsoft.com/office/drawing/2014/main" id="{8DFB54B7-7569-4F2C-9370-3FCB675B721C}"/>
              </a:ext>
            </a:extLst>
          </p:cNvPr>
          <p:cNvSpPr>
            <a:spLocks noGrp="1"/>
          </p:cNvSpPr>
          <p:nvPr/>
        </p:nvSpPr>
        <p:spPr>
          <a:xfrm>
            <a:off x="5543550" y="5048250"/>
            <a:ext cx="2333625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metric-accent-inventory-3">
            <a:extLst>
              <a:ext uri="{FF2B5EF4-FFF2-40B4-BE49-F238E27FC236}">
                <a16:creationId xmlns:a16="http://schemas.microsoft.com/office/drawing/2014/main" id="{1A9D93E6-B90B-4D90-9BD9-2CD9F0CEC415}"/>
              </a:ext>
            </a:extLst>
          </p:cNvPr>
          <p:cNvSpPr>
            <a:spLocks noGrp="1"/>
          </p:cNvSpPr>
          <p:nvPr/>
        </p:nvSpPr>
        <p:spPr>
          <a:xfrm>
            <a:off x="5543550" y="5048250"/>
            <a:ext cx="66675" cy="120015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metric-stat-inventory-3">
            <a:extLst>
              <a:ext uri="{FF2B5EF4-FFF2-40B4-BE49-F238E27FC236}">
                <a16:creationId xmlns:a16="http://schemas.microsoft.com/office/drawing/2014/main" id="{247BF9D5-070A-4AF9-8EDA-1758F20F29A3}"/>
              </a:ext>
            </a:extLst>
          </p:cNvPr>
          <p:cNvSpPr>
            <a:spLocks noGrp="1"/>
          </p:cNvSpPr>
          <p:nvPr/>
        </p:nvSpPr>
        <p:spPr>
          <a:xfrm>
            <a:off x="5772150" y="5276850"/>
            <a:ext cx="18764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43044"/>
                </a:solidFill>
              </a:defRPr>
            </a:pPr>
            <a:r>
              <a:rPr sz="3150" b="1">
                <a:solidFill>
                  <a:srgbClr val="143044"/>
                </a:solidFill>
              </a:rPr>
              <a:t>4</a:t>
            </a:r>
          </a:p>
        </p:txBody>
      </p:sp>
      <p:sp>
        <p:nvSpPr>
          <p:cNvPr id="19" name="metric-label-inventory-3">
            <a:extLst>
              <a:ext uri="{FF2B5EF4-FFF2-40B4-BE49-F238E27FC236}">
                <a16:creationId xmlns:a16="http://schemas.microsoft.com/office/drawing/2014/main" id="{90C203DC-9BC7-4878-910F-A58624254F5D}"/>
              </a:ext>
            </a:extLst>
          </p:cNvPr>
          <p:cNvSpPr>
            <a:spLocks noGrp="1"/>
          </p:cNvSpPr>
          <p:nvPr/>
        </p:nvSpPr>
        <p:spPr>
          <a:xfrm>
            <a:off x="5791200" y="5848350"/>
            <a:ext cx="18383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mart tables</a:t>
            </a:r>
          </a:p>
        </p:txBody>
      </p:sp>
      <p:sp>
        <p:nvSpPr>
          <p:cNvPr id="20" name="metric-card-inventory-4">
            <a:extLst>
              <a:ext uri="{FF2B5EF4-FFF2-40B4-BE49-F238E27FC236}">
                <a16:creationId xmlns:a16="http://schemas.microsoft.com/office/drawing/2014/main" id="{5242CDF2-6BD4-4D75-9BB7-AA51FAA725C4}"/>
              </a:ext>
            </a:extLst>
          </p:cNvPr>
          <p:cNvSpPr>
            <a:spLocks noGrp="1"/>
          </p:cNvSpPr>
          <p:nvPr/>
        </p:nvSpPr>
        <p:spPr>
          <a:xfrm>
            <a:off x="8124825" y="5048250"/>
            <a:ext cx="2333625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metric-accent-inventory-4">
            <a:extLst>
              <a:ext uri="{FF2B5EF4-FFF2-40B4-BE49-F238E27FC236}">
                <a16:creationId xmlns:a16="http://schemas.microsoft.com/office/drawing/2014/main" id="{64D3F918-E416-4B59-91C1-9A4AA3DA105D}"/>
              </a:ext>
            </a:extLst>
          </p:cNvPr>
          <p:cNvSpPr>
            <a:spLocks noGrp="1"/>
          </p:cNvSpPr>
          <p:nvPr/>
        </p:nvSpPr>
        <p:spPr>
          <a:xfrm>
            <a:off x="8124825" y="5048250"/>
            <a:ext cx="66675" cy="120015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metric-stat-inventory-4">
            <a:extLst>
              <a:ext uri="{FF2B5EF4-FFF2-40B4-BE49-F238E27FC236}">
                <a16:creationId xmlns:a16="http://schemas.microsoft.com/office/drawing/2014/main" id="{48F20123-B6C2-4B66-9A54-4E1FF52C657D}"/>
              </a:ext>
            </a:extLst>
          </p:cNvPr>
          <p:cNvSpPr>
            <a:spLocks noGrp="1"/>
          </p:cNvSpPr>
          <p:nvPr/>
        </p:nvSpPr>
        <p:spPr>
          <a:xfrm>
            <a:off x="8353425" y="5276850"/>
            <a:ext cx="18764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43044"/>
                </a:solidFill>
              </a:defRPr>
            </a:pPr>
            <a:r>
              <a:rPr sz="3150" b="1">
                <a:solidFill>
                  <a:srgbClr val="143044"/>
                </a:solidFill>
              </a:rPr>
              <a:t>107</a:t>
            </a:r>
          </a:p>
        </p:txBody>
      </p:sp>
      <p:sp>
        <p:nvSpPr>
          <p:cNvPr id="23" name="metric-label-inventory-4">
            <a:extLst>
              <a:ext uri="{FF2B5EF4-FFF2-40B4-BE49-F238E27FC236}">
                <a16:creationId xmlns:a16="http://schemas.microsoft.com/office/drawing/2014/main" id="{F09D36BB-E664-4A48-A562-259AD0DAE530}"/>
              </a:ext>
            </a:extLst>
          </p:cNvPr>
          <p:cNvSpPr>
            <a:spLocks noGrp="1"/>
          </p:cNvSpPr>
          <p:nvPr/>
        </p:nvSpPr>
        <p:spPr>
          <a:xfrm>
            <a:off x="8372475" y="5848350"/>
            <a:ext cx="18383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A6B78"/>
                </a:solidFill>
              </a:defRPr>
            </a:pPr>
            <a:r>
              <a:rPr sz="1200" b="0">
                <a:solidFill>
                  <a:srgbClr val="5A6B78"/>
                </a:solidFill>
              </a:rPr>
              <a:t>passing tests</a:t>
            </a:r>
          </a:p>
        </p:txBody>
      </p:sp>
    </p:spTree>
    <p:extLst>
      <p:ext uri="{BB962C8B-B14F-4D97-AF65-F5344CB8AC3E}">
        <p14:creationId xmlns:p14="http://schemas.microsoft.com/office/powerpoint/2010/main" val="326073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-wash-7">
            <a:extLst>
              <a:ext uri="{FF2B5EF4-FFF2-40B4-BE49-F238E27FC236}">
                <a16:creationId xmlns:a16="http://schemas.microsoft.com/office/drawing/2014/main" id="{0DF12946-592C-46CF-943A-9C71E83E4D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DDF2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ccent-rail-7">
            <a:extLst>
              <a:ext uri="{FF2B5EF4-FFF2-40B4-BE49-F238E27FC236}">
                <a16:creationId xmlns:a16="http://schemas.microsoft.com/office/drawing/2014/main" id="{5A8C9BD2-C8CF-4AEE-9093-5B15092ACA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-7">
            <a:extLst>
              <a:ext uri="{FF2B5EF4-FFF2-40B4-BE49-F238E27FC236}">
                <a16:creationId xmlns:a16="http://schemas.microsoft.com/office/drawing/2014/main" id="{92635F8D-C95C-4E79-B91E-AD9DAED9CEC2}"/>
              </a:ext>
            </a:extLst>
          </p:cNvPr>
          <p:cNvSpPr>
            <a:spLocks noGrp="1"/>
          </p:cNvSpPr>
          <p:nvPr/>
        </p:nvSpPr>
        <p:spPr>
          <a:xfrm>
            <a:off x="495300" y="2095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A6B78"/>
                </a:solidFill>
              </a:defRPr>
            </a:pPr>
            <a:r>
              <a:rPr sz="900" b="1">
                <a:solidFill>
                  <a:srgbClr val="5A6B78"/>
                </a:solidFill>
              </a:rPr>
              <a:t>DATA QUALITY</a:t>
            </a:r>
          </a:p>
        </p:txBody>
      </p:sp>
      <p:sp>
        <p:nvSpPr>
          <p:cNvPr id="4" name="title-7">
            <a:extLst>
              <a:ext uri="{FF2B5EF4-FFF2-40B4-BE49-F238E27FC236}">
                <a16:creationId xmlns:a16="http://schemas.microsoft.com/office/drawing/2014/main" id="{975AC987-CD0B-42DC-A964-2B2767BB4180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933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43044"/>
                </a:solidFill>
              </a:defRPr>
            </a:pPr>
            <a:r>
              <a:rPr sz="3000" b="1">
                <a:solidFill>
                  <a:srgbClr val="143044"/>
                </a:solidFill>
              </a:rPr>
              <a:t>Tests make the model contract explicit</a:t>
            </a:r>
          </a:p>
        </p:txBody>
      </p:sp>
      <p:sp>
        <p:nvSpPr>
          <p:cNvPr id="5" name="footer-brand-7">
            <a:extLst>
              <a:ext uri="{FF2B5EF4-FFF2-40B4-BE49-F238E27FC236}">
                <a16:creationId xmlns:a16="http://schemas.microsoft.com/office/drawing/2014/main" id="{9A73607A-3B76-49B4-A340-90D53173631D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A6B78"/>
                </a:solidFill>
              </a:defRPr>
            </a:pPr>
            <a:r>
              <a:rPr sz="975" b="1">
                <a:solidFill>
                  <a:srgbClr val="5A6B78"/>
                </a:solidFill>
              </a:rPr>
              <a:t>OPEN-METEO ANALYTICS</a:t>
            </a:r>
          </a:p>
        </p:txBody>
      </p:sp>
      <p:sp>
        <p:nvSpPr>
          <p:cNvPr id="6" name="footer-7">
            <a:extLst>
              <a:ext uri="{FF2B5EF4-FFF2-40B4-BE49-F238E27FC236}">
                <a16:creationId xmlns:a16="http://schemas.microsoft.com/office/drawing/2014/main" id="{F5506261-901D-40F8-9646-9BD8B6DDDC99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43044"/>
                </a:solidFill>
              </a:defRPr>
            </a:pPr>
            <a:r>
              <a:rPr sz="1125" b="0">
                <a:solidFill>
                  <a:srgbClr val="143044"/>
                </a:solidFill>
              </a:rPr>
              <a:t>07</a:t>
            </a:r>
          </a:p>
        </p:txBody>
      </p:sp>
      <p:sp>
        <p:nvSpPr>
          <p:cNvPr id="7" name="metric-card-tests-1">
            <a:extLst>
              <a:ext uri="{FF2B5EF4-FFF2-40B4-BE49-F238E27FC236}">
                <a16:creationId xmlns:a16="http://schemas.microsoft.com/office/drawing/2014/main" id="{C20EB8C4-A2C0-415A-BDBB-25C6350F0308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233362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8" name="metric-accent-tests-1">
            <a:extLst>
              <a:ext uri="{FF2B5EF4-FFF2-40B4-BE49-F238E27FC236}">
                <a16:creationId xmlns:a16="http://schemas.microsoft.com/office/drawing/2014/main" id="{219D52FA-745F-4689-9469-A4647BBDA60F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66675" cy="169545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9" name="metric-stat-tests-1">
            <a:extLst>
              <a:ext uri="{FF2B5EF4-FFF2-40B4-BE49-F238E27FC236}">
                <a16:creationId xmlns:a16="http://schemas.microsoft.com/office/drawing/2014/main" id="{08013E60-EB65-488F-BACF-10396EBDCB22}"/>
              </a:ext>
            </a:extLst>
          </p:cNvPr>
          <p:cNvSpPr>
            <a:spLocks noGrp="1"/>
          </p:cNvSpPr>
          <p:nvPr/>
        </p:nvSpPr>
        <p:spPr>
          <a:xfrm>
            <a:off x="619125" y="2114550"/>
            <a:ext cx="1876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143044"/>
                </a:solidFill>
              </a:defRPr>
            </a:pPr>
            <a:r>
              <a:rPr sz="3600" b="1">
                <a:solidFill>
                  <a:srgbClr val="143044"/>
                </a:solidFill>
              </a:rPr>
              <a:t>107</a:t>
            </a:r>
          </a:p>
        </p:txBody>
      </p:sp>
      <p:sp>
        <p:nvSpPr>
          <p:cNvPr id="10" name="metric-label-tests-1">
            <a:extLst>
              <a:ext uri="{FF2B5EF4-FFF2-40B4-BE49-F238E27FC236}">
                <a16:creationId xmlns:a16="http://schemas.microsoft.com/office/drawing/2014/main" id="{DC948E5B-F7DA-41C6-AAFB-CF008AA8B5A7}"/>
              </a:ext>
            </a:extLst>
          </p:cNvPr>
          <p:cNvSpPr>
            <a:spLocks noGrp="1"/>
          </p:cNvSpPr>
          <p:nvPr/>
        </p:nvSpPr>
        <p:spPr>
          <a:xfrm>
            <a:off x="638175" y="2876550"/>
            <a:ext cx="1838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A6B78"/>
                </a:solidFill>
              </a:defRPr>
            </a:pPr>
            <a:r>
              <a:rPr sz="1350" b="0">
                <a:solidFill>
                  <a:srgbClr val="5A6B78"/>
                </a:solidFill>
              </a:rPr>
              <a:t>dbt tests passed</a:t>
            </a:r>
          </a:p>
        </p:txBody>
      </p:sp>
      <p:sp>
        <p:nvSpPr>
          <p:cNvPr id="11" name="metric-card-tests-2">
            <a:extLst>
              <a:ext uri="{FF2B5EF4-FFF2-40B4-BE49-F238E27FC236}">
                <a16:creationId xmlns:a16="http://schemas.microsoft.com/office/drawing/2014/main" id="{A820ABC7-B5FA-4FEC-88D7-096251630619}"/>
              </a:ext>
            </a:extLst>
          </p:cNvPr>
          <p:cNvSpPr>
            <a:spLocks noGrp="1"/>
          </p:cNvSpPr>
          <p:nvPr/>
        </p:nvSpPr>
        <p:spPr>
          <a:xfrm>
            <a:off x="2971800" y="1809750"/>
            <a:ext cx="233362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12" name="metric-accent-tests-2">
            <a:extLst>
              <a:ext uri="{FF2B5EF4-FFF2-40B4-BE49-F238E27FC236}">
                <a16:creationId xmlns:a16="http://schemas.microsoft.com/office/drawing/2014/main" id="{FFEE6C02-4DC2-4FCB-BE1D-7C854DDB1B2E}"/>
              </a:ext>
            </a:extLst>
          </p:cNvPr>
          <p:cNvSpPr>
            <a:spLocks noGrp="1"/>
          </p:cNvSpPr>
          <p:nvPr/>
        </p:nvSpPr>
        <p:spPr>
          <a:xfrm>
            <a:off x="2971800" y="1809750"/>
            <a:ext cx="66675" cy="169545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3" name="metric-stat-tests-2">
            <a:extLst>
              <a:ext uri="{FF2B5EF4-FFF2-40B4-BE49-F238E27FC236}">
                <a16:creationId xmlns:a16="http://schemas.microsoft.com/office/drawing/2014/main" id="{F505D7E9-6DDB-41D7-8E6B-5A5E7F650B29}"/>
              </a:ext>
            </a:extLst>
          </p:cNvPr>
          <p:cNvSpPr>
            <a:spLocks noGrp="1"/>
          </p:cNvSpPr>
          <p:nvPr/>
        </p:nvSpPr>
        <p:spPr>
          <a:xfrm>
            <a:off x="3200400" y="2114550"/>
            <a:ext cx="1876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143044"/>
                </a:solidFill>
              </a:defRPr>
            </a:pPr>
            <a:r>
              <a:rPr sz="3600" b="1">
                <a:solidFill>
                  <a:srgbClr val="143044"/>
                </a:solidFill>
              </a:rPr>
              <a:t>5</a:t>
            </a:r>
          </a:p>
        </p:txBody>
      </p:sp>
      <p:sp>
        <p:nvSpPr>
          <p:cNvPr id="14" name="metric-label-tests-2">
            <a:extLst>
              <a:ext uri="{FF2B5EF4-FFF2-40B4-BE49-F238E27FC236}">
                <a16:creationId xmlns:a16="http://schemas.microsoft.com/office/drawing/2014/main" id="{DE78561F-C5B8-4687-903F-D76EEA6F6210}"/>
              </a:ext>
            </a:extLst>
          </p:cNvPr>
          <p:cNvSpPr>
            <a:spLocks noGrp="1"/>
          </p:cNvSpPr>
          <p:nvPr/>
        </p:nvSpPr>
        <p:spPr>
          <a:xfrm>
            <a:off x="3219450" y="2876550"/>
            <a:ext cx="1838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A6B78"/>
                </a:solidFill>
              </a:defRPr>
            </a:pPr>
            <a:r>
              <a:rPr sz="1350" b="0">
                <a:solidFill>
                  <a:srgbClr val="5A6B78"/>
                </a:solidFill>
              </a:rPr>
              <a:t>custom SQL tests</a:t>
            </a:r>
          </a:p>
        </p:txBody>
      </p:sp>
      <p:sp>
        <p:nvSpPr>
          <p:cNvPr id="15" name="metric-card-tests-3">
            <a:extLst>
              <a:ext uri="{FF2B5EF4-FFF2-40B4-BE49-F238E27FC236}">
                <a16:creationId xmlns:a16="http://schemas.microsoft.com/office/drawing/2014/main" id="{6747E9BD-5503-4550-9509-B40CFFCA5F8E}"/>
              </a:ext>
            </a:extLst>
          </p:cNvPr>
          <p:cNvSpPr>
            <a:spLocks noGrp="1"/>
          </p:cNvSpPr>
          <p:nvPr/>
        </p:nvSpPr>
        <p:spPr>
          <a:xfrm>
            <a:off x="5543550" y="1809750"/>
            <a:ext cx="233362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16" name="metric-accent-tests-3">
            <a:extLst>
              <a:ext uri="{FF2B5EF4-FFF2-40B4-BE49-F238E27FC236}">
                <a16:creationId xmlns:a16="http://schemas.microsoft.com/office/drawing/2014/main" id="{470E29C5-CA9F-40F9-A49B-6F394BBB4354}"/>
              </a:ext>
            </a:extLst>
          </p:cNvPr>
          <p:cNvSpPr>
            <a:spLocks noGrp="1"/>
          </p:cNvSpPr>
          <p:nvPr/>
        </p:nvSpPr>
        <p:spPr>
          <a:xfrm>
            <a:off x="5543550" y="1809750"/>
            <a:ext cx="66675" cy="169545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7" name="metric-stat-tests-3">
            <a:extLst>
              <a:ext uri="{FF2B5EF4-FFF2-40B4-BE49-F238E27FC236}">
                <a16:creationId xmlns:a16="http://schemas.microsoft.com/office/drawing/2014/main" id="{94614CDD-E41B-4E2F-941E-B4195770537E}"/>
              </a:ext>
            </a:extLst>
          </p:cNvPr>
          <p:cNvSpPr>
            <a:spLocks noGrp="1"/>
          </p:cNvSpPr>
          <p:nvPr/>
        </p:nvSpPr>
        <p:spPr>
          <a:xfrm>
            <a:off x="5772150" y="2114550"/>
            <a:ext cx="1876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143044"/>
                </a:solidFill>
              </a:defRPr>
            </a:pPr>
            <a:r>
              <a:rPr sz="3600" b="1">
                <a:solidFill>
                  <a:srgbClr val="143044"/>
                </a:solidFill>
              </a:rPr>
              <a:t>0</a:t>
            </a:r>
          </a:p>
        </p:txBody>
      </p:sp>
      <p:sp>
        <p:nvSpPr>
          <p:cNvPr id="18" name="metric-label-tests-3">
            <a:extLst>
              <a:ext uri="{FF2B5EF4-FFF2-40B4-BE49-F238E27FC236}">
                <a16:creationId xmlns:a16="http://schemas.microsoft.com/office/drawing/2014/main" id="{E2A5470E-9257-483E-BBFD-2F02656A1C62}"/>
              </a:ext>
            </a:extLst>
          </p:cNvPr>
          <p:cNvSpPr>
            <a:spLocks noGrp="1"/>
          </p:cNvSpPr>
          <p:nvPr/>
        </p:nvSpPr>
        <p:spPr>
          <a:xfrm>
            <a:off x="5791200" y="2876550"/>
            <a:ext cx="1838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A6B78"/>
                </a:solidFill>
              </a:defRPr>
            </a:pPr>
            <a:r>
              <a:rPr sz="1350" b="0">
                <a:solidFill>
                  <a:srgbClr val="5A6B78"/>
                </a:solidFill>
              </a:rPr>
              <a:t>failing checks</a:t>
            </a:r>
          </a:p>
        </p:txBody>
      </p:sp>
      <p:sp>
        <p:nvSpPr>
          <p:cNvPr id="19" name="tests-claim">
            <a:extLst>
              <a:ext uri="{FF2B5EF4-FFF2-40B4-BE49-F238E27FC236}">
                <a16:creationId xmlns:a16="http://schemas.microsoft.com/office/drawing/2014/main" id="{EDB6B35F-DF46-472D-8970-9BA29E938AFB}"/>
              </a:ext>
            </a:extLst>
          </p:cNvPr>
          <p:cNvSpPr>
            <a:spLocks noGrp="1"/>
          </p:cNvSpPr>
          <p:nvPr/>
        </p:nvSpPr>
        <p:spPr>
          <a:xfrm>
            <a:off x="8229600" y="1809750"/>
            <a:ext cx="3238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143044"/>
                </a:solidFill>
              </a:defRPr>
            </a:pPr>
            <a:r>
              <a:rPr sz="1950" b="0" dirty="0">
                <a:solidFill>
                  <a:srgbClr val="143044"/>
                </a:solidFill>
              </a:rPr>
              <a:t>The test suite checks both schema expectations and project-specific business assumptions.</a:t>
            </a:r>
          </a:p>
        </p:txBody>
      </p:sp>
      <p:sp>
        <p:nvSpPr>
          <p:cNvPr id="20" name="tests-label">
            <a:extLst>
              <a:ext uri="{FF2B5EF4-FFF2-40B4-BE49-F238E27FC236}">
                <a16:creationId xmlns:a16="http://schemas.microsoft.com/office/drawing/2014/main" id="{DD08D1AD-F7DB-4F54-A751-AAD04AF1320B}"/>
              </a:ext>
            </a:extLst>
          </p:cNvPr>
          <p:cNvSpPr>
            <a:spLocks noGrp="1"/>
          </p:cNvSpPr>
          <p:nvPr/>
        </p:nvSpPr>
        <p:spPr>
          <a:xfrm>
            <a:off x="390525" y="40957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2A6A1"/>
                </a:solidFill>
              </a:defRPr>
            </a:pPr>
            <a:r>
              <a:rPr sz="1050" b="1">
                <a:solidFill>
                  <a:srgbClr val="22A6A1"/>
                </a:solidFill>
              </a:rPr>
              <a:t>EXAMPLES</a:t>
            </a:r>
          </a:p>
        </p:txBody>
      </p:sp>
      <p:sp>
        <p:nvSpPr>
          <p:cNvPr id="21" name="tests-bullets">
            <a:extLst>
              <a:ext uri="{FF2B5EF4-FFF2-40B4-BE49-F238E27FC236}">
                <a16:creationId xmlns:a16="http://schemas.microsoft.com/office/drawing/2014/main" id="{83F554D7-F335-4796-AB0E-503348FE1B11}"/>
              </a:ext>
            </a:extLst>
          </p:cNvPr>
          <p:cNvSpPr>
            <a:spLocks noGrp="1"/>
          </p:cNvSpPr>
          <p:nvPr/>
        </p:nvSpPr>
        <p:spPr>
          <a:xfrm>
            <a:off x="390525" y="4476750"/>
            <a:ext cx="6762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43044"/>
                </a:solidFill>
              </a:defRPr>
            </a:pPr>
            <a:r>
              <a:rPr sz="1650" b="0">
                <a:solidFill>
                  <a:srgbClr val="143044"/>
                </a:solidFill>
              </a:rPr>
              <a:t>• Each dimension/fact/mart keeps the intended grain.</a:t>
            </a:r>
          </a:p>
          <a:p>
            <a:pPr algn="l">
              <a:defRPr sz="1650" b="0">
                <a:solidFill>
                  <a:srgbClr val="143044"/>
                </a:solidFill>
              </a:defRPr>
            </a:pPr>
            <a:r>
              <a:rPr sz="1650" b="0">
                <a:solidFill>
                  <a:srgbClr val="143044"/>
                </a:solidFill>
              </a:rPr>
              <a:t>• Weather metrics stay inside accepted physical ranges.</a:t>
            </a:r>
          </a:p>
          <a:p>
            <a:pPr algn="l">
              <a:defRPr sz="1650" b="0">
                <a:solidFill>
                  <a:srgbClr val="143044"/>
                </a:solidFill>
              </a:defRPr>
            </a:pPr>
            <a:r>
              <a:rPr sz="1650" b="0">
                <a:solidFill>
                  <a:srgbClr val="143044"/>
                </a:solidFill>
              </a:rPr>
              <a:t>• The summary mart is ready for the dashboard ranking.</a:t>
            </a:r>
          </a:p>
          <a:p>
            <a:pPr algn="l">
              <a:defRPr sz="1650" b="0">
                <a:solidFill>
                  <a:srgbClr val="143044"/>
                </a:solidFill>
              </a:defRPr>
            </a:pPr>
            <a:r>
              <a:rPr sz="1650" b="0">
                <a:solidFill>
                  <a:srgbClr val="143044"/>
                </a:solidFill>
              </a:rPr>
              <a:t>• Key source and model identifiers are not null and unique where required.</a:t>
            </a:r>
          </a:p>
        </p:txBody>
      </p:sp>
      <p:sp>
        <p:nvSpPr>
          <p:cNvPr id="22" name="tests-command">
            <a:extLst>
              <a:ext uri="{FF2B5EF4-FFF2-40B4-BE49-F238E27FC236}">
                <a16:creationId xmlns:a16="http://schemas.microsoft.com/office/drawing/2014/main" id="{13611515-EAEC-4A82-916D-81EF663066ED}"/>
              </a:ext>
            </a:extLst>
          </p:cNvPr>
          <p:cNvSpPr>
            <a:spLocks noGrp="1"/>
          </p:cNvSpPr>
          <p:nvPr/>
        </p:nvSpPr>
        <p:spPr>
          <a:xfrm>
            <a:off x="7839075" y="4476750"/>
            <a:ext cx="3962400" cy="914400"/>
          </a:xfrm>
          <a:prstGeom prst="roundRect">
            <a:avLst>
              <a:gd name="adj" fmla="val 8333"/>
            </a:avLst>
          </a:prstGeom>
          <a:solidFill>
            <a:srgbClr val="EAF6FA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tests-command-text">
            <a:extLst>
              <a:ext uri="{FF2B5EF4-FFF2-40B4-BE49-F238E27FC236}">
                <a16:creationId xmlns:a16="http://schemas.microsoft.com/office/drawing/2014/main" id="{B6A43DE1-281B-4008-B7F1-0C7C1AAD5EBB}"/>
              </a:ext>
            </a:extLst>
          </p:cNvPr>
          <p:cNvSpPr>
            <a:spLocks noGrp="1"/>
          </p:cNvSpPr>
          <p:nvPr/>
        </p:nvSpPr>
        <p:spPr>
          <a:xfrm>
            <a:off x="8115300" y="47625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43044"/>
                </a:solidFill>
              </a:defRPr>
            </a:pPr>
            <a:r>
              <a:rPr sz="1725" b="0">
                <a:solidFill>
                  <a:srgbClr val="143044"/>
                </a:solidFill>
              </a:rPr>
              <a:t>uv run dbt test --profiles-dir .</a:t>
            </a:r>
          </a:p>
        </p:txBody>
      </p:sp>
    </p:spTree>
    <p:extLst>
      <p:ext uri="{BB962C8B-B14F-4D97-AF65-F5344CB8AC3E}">
        <p14:creationId xmlns:p14="http://schemas.microsoft.com/office/powerpoint/2010/main" val="1305023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p-wash-8">
            <a:extLst>
              <a:ext uri="{FF2B5EF4-FFF2-40B4-BE49-F238E27FC236}">
                <a16:creationId xmlns:a16="http://schemas.microsoft.com/office/drawing/2014/main" id="{D4B2BAB0-6BE5-4FE9-AD9D-E49A27FBA6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DDF2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ccent-rail-8">
            <a:extLst>
              <a:ext uri="{FF2B5EF4-FFF2-40B4-BE49-F238E27FC236}">
                <a16:creationId xmlns:a16="http://schemas.microsoft.com/office/drawing/2014/main" id="{CB99655F-87F7-4990-9147-4D8E8209A2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-8">
            <a:extLst>
              <a:ext uri="{FF2B5EF4-FFF2-40B4-BE49-F238E27FC236}">
                <a16:creationId xmlns:a16="http://schemas.microsoft.com/office/drawing/2014/main" id="{DE549B44-B9C0-4ED2-9DD6-0F8D09E3FDD6}"/>
              </a:ext>
            </a:extLst>
          </p:cNvPr>
          <p:cNvSpPr>
            <a:spLocks noGrp="1"/>
          </p:cNvSpPr>
          <p:nvPr/>
        </p:nvSpPr>
        <p:spPr>
          <a:xfrm>
            <a:off x="495300" y="2095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A6B78"/>
                </a:solidFill>
              </a:defRPr>
            </a:pPr>
            <a:r>
              <a:rPr sz="900" b="1">
                <a:solidFill>
                  <a:srgbClr val="5A6B78"/>
                </a:solidFill>
              </a:rPr>
              <a:t>METRIC LOGIC</a:t>
            </a:r>
          </a:p>
        </p:txBody>
      </p:sp>
      <p:sp>
        <p:nvSpPr>
          <p:cNvPr id="4" name="title-8">
            <a:extLst>
              <a:ext uri="{FF2B5EF4-FFF2-40B4-BE49-F238E27FC236}">
                <a16:creationId xmlns:a16="http://schemas.microsoft.com/office/drawing/2014/main" id="{D4A8B1B7-2F06-4C2F-B2BA-768848525A78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933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43044"/>
                </a:solidFill>
              </a:defRPr>
            </a:pPr>
            <a:r>
              <a:rPr sz="3000" b="1">
                <a:solidFill>
                  <a:srgbClr val="143044"/>
                </a:solidFill>
              </a:rPr>
              <a:t>The comfort score turns daily flags into a city ranking</a:t>
            </a:r>
          </a:p>
        </p:txBody>
      </p:sp>
      <p:sp>
        <p:nvSpPr>
          <p:cNvPr id="5" name="footer-brand-8">
            <a:extLst>
              <a:ext uri="{FF2B5EF4-FFF2-40B4-BE49-F238E27FC236}">
                <a16:creationId xmlns:a16="http://schemas.microsoft.com/office/drawing/2014/main" id="{DCC6A952-5312-473F-8243-7D4D785B88B0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A6B78"/>
                </a:solidFill>
              </a:defRPr>
            </a:pPr>
            <a:r>
              <a:rPr sz="975" b="1">
                <a:solidFill>
                  <a:srgbClr val="5A6B78"/>
                </a:solidFill>
              </a:rPr>
              <a:t>OPEN-METEO ANALYTICS</a:t>
            </a:r>
          </a:p>
        </p:txBody>
      </p:sp>
      <p:sp>
        <p:nvSpPr>
          <p:cNvPr id="6" name="footer-8">
            <a:extLst>
              <a:ext uri="{FF2B5EF4-FFF2-40B4-BE49-F238E27FC236}">
                <a16:creationId xmlns:a16="http://schemas.microsoft.com/office/drawing/2014/main" id="{C995D730-6062-4175-85AA-E61F8C977788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43044"/>
                </a:solidFill>
              </a:defRPr>
            </a:pPr>
            <a:r>
              <a:rPr sz="1125" b="0">
                <a:solidFill>
                  <a:srgbClr val="143044"/>
                </a:solidFill>
              </a:rPr>
              <a:t>08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571500" y="1809750"/>
          <a:ext cx="47625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core-formula">
            <a:extLst>
              <a:ext uri="{FF2B5EF4-FFF2-40B4-BE49-F238E27FC236}">
                <a16:creationId xmlns:a16="http://schemas.microsoft.com/office/drawing/2014/main" id="{BDD3BA87-86C8-41D6-A432-DCE151948C7A}"/>
              </a:ext>
            </a:extLst>
          </p:cNvPr>
          <p:cNvSpPr>
            <a:spLocks noGrp="1"/>
          </p:cNvSpPr>
          <p:nvPr/>
        </p:nvSpPr>
        <p:spPr>
          <a:xfrm>
            <a:off x="6257925" y="1695450"/>
            <a:ext cx="5534025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score-formula-text">
            <a:extLst>
              <a:ext uri="{FF2B5EF4-FFF2-40B4-BE49-F238E27FC236}">
                <a16:creationId xmlns:a16="http://schemas.microsoft.com/office/drawing/2014/main" id="{93C0B2AC-5565-4D8D-B881-B332BCEA5A3F}"/>
              </a:ext>
            </a:extLst>
          </p:cNvPr>
          <p:cNvSpPr>
            <a:spLocks noGrp="1"/>
          </p:cNvSpPr>
          <p:nvPr/>
        </p:nvSpPr>
        <p:spPr>
          <a:xfrm>
            <a:off x="6562725" y="2095500"/>
            <a:ext cx="49053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43044"/>
                </a:solidFill>
              </a:defRPr>
            </a:pPr>
            <a:r>
              <a:rPr sz="1800" b="0">
                <a:solidFill>
                  <a:srgbClr val="143044"/>
                </a:solidFill>
              </a:rPr>
              <a:t>Score = 100 * (comfortable days 45% + dry days 20% + non-hot days 15% + non-windy days 10% + good AQ days 10%)</a:t>
            </a:r>
          </a:p>
        </p:txBody>
      </p:sp>
      <p:sp>
        <p:nvSpPr>
          <p:cNvPr id="10" name="score-def">
            <a:extLst>
              <a:ext uri="{FF2B5EF4-FFF2-40B4-BE49-F238E27FC236}">
                <a16:creationId xmlns:a16="http://schemas.microsoft.com/office/drawing/2014/main" id="{ECD52B86-AE4B-4664-8C5B-2641E63F626D}"/>
              </a:ext>
            </a:extLst>
          </p:cNvPr>
          <p:cNvSpPr>
            <a:spLocks noGrp="1"/>
          </p:cNvSpPr>
          <p:nvPr/>
        </p:nvSpPr>
        <p:spPr>
          <a:xfrm>
            <a:off x="6257925" y="3714750"/>
            <a:ext cx="5534025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1" name="score-def-text">
            <a:extLst>
              <a:ext uri="{FF2B5EF4-FFF2-40B4-BE49-F238E27FC236}">
                <a16:creationId xmlns:a16="http://schemas.microsoft.com/office/drawing/2014/main" id="{D6F6F4FA-37B2-49DB-88BC-9B0A2E6447FB}"/>
              </a:ext>
            </a:extLst>
          </p:cNvPr>
          <p:cNvSpPr>
            <a:spLocks noGrp="1"/>
          </p:cNvSpPr>
          <p:nvPr/>
        </p:nvSpPr>
        <p:spPr>
          <a:xfrm>
            <a:off x="6562725" y="4114800"/>
            <a:ext cx="49053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43044"/>
                </a:solidFill>
              </a:defRPr>
            </a:pPr>
            <a:r>
              <a:rPr sz="1800" b="0">
                <a:solidFill>
                  <a:srgbClr val="143044"/>
                </a:solidFill>
              </a:rPr>
              <a:t>A comfortable day means 18-26 C average temperature and no rainy, windy, hot, or poor-air-quality flag.</a:t>
            </a:r>
          </a:p>
        </p:txBody>
      </p:sp>
    </p:spTree>
    <p:extLst>
      <p:ext uri="{BB962C8B-B14F-4D97-AF65-F5344CB8AC3E}">
        <p14:creationId xmlns:p14="http://schemas.microsoft.com/office/powerpoint/2010/main" val="425570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p-wash-9">
            <a:extLst>
              <a:ext uri="{FF2B5EF4-FFF2-40B4-BE49-F238E27FC236}">
                <a16:creationId xmlns:a16="http://schemas.microsoft.com/office/drawing/2014/main" id="{C959585E-53EA-4A44-B379-C31AE56E1F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DDF2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ccent-rail-9">
            <a:extLst>
              <a:ext uri="{FF2B5EF4-FFF2-40B4-BE49-F238E27FC236}">
                <a16:creationId xmlns:a16="http://schemas.microsoft.com/office/drawing/2014/main" id="{009857B8-AF47-48F9-AA80-C22DF3FBA4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-9">
            <a:extLst>
              <a:ext uri="{FF2B5EF4-FFF2-40B4-BE49-F238E27FC236}">
                <a16:creationId xmlns:a16="http://schemas.microsoft.com/office/drawing/2014/main" id="{0D05DCA6-9957-4B01-81C9-498962D337F6}"/>
              </a:ext>
            </a:extLst>
          </p:cNvPr>
          <p:cNvSpPr>
            <a:spLocks noGrp="1"/>
          </p:cNvSpPr>
          <p:nvPr/>
        </p:nvSpPr>
        <p:spPr>
          <a:xfrm>
            <a:off x="495300" y="2095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A6B78"/>
                </a:solidFill>
              </a:defRPr>
            </a:pPr>
            <a:r>
              <a:rPr sz="900" b="1">
                <a:solidFill>
                  <a:srgbClr val="5A6B78"/>
                </a:solidFill>
              </a:rPr>
              <a:t>RESULTS</a:t>
            </a:r>
          </a:p>
        </p:txBody>
      </p:sp>
      <p:sp>
        <p:nvSpPr>
          <p:cNvPr id="4" name="title-9">
            <a:extLst>
              <a:ext uri="{FF2B5EF4-FFF2-40B4-BE49-F238E27FC236}">
                <a16:creationId xmlns:a16="http://schemas.microsoft.com/office/drawing/2014/main" id="{D1BB1B02-622C-49F1-8A26-BF3C0C7D5497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933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43044"/>
                </a:solidFill>
              </a:defRPr>
            </a:pPr>
            <a:r>
              <a:rPr sz="3000" b="1">
                <a:solidFill>
                  <a:srgbClr val="143044"/>
                </a:solidFill>
              </a:rPr>
              <a:t>Valencia ranks highest in the current extracted period</a:t>
            </a:r>
          </a:p>
        </p:txBody>
      </p:sp>
      <p:sp>
        <p:nvSpPr>
          <p:cNvPr id="5" name="footer-brand-9">
            <a:extLst>
              <a:ext uri="{FF2B5EF4-FFF2-40B4-BE49-F238E27FC236}">
                <a16:creationId xmlns:a16="http://schemas.microsoft.com/office/drawing/2014/main" id="{272ECE5F-77E9-4422-B3E9-7C2D92732BF6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A6B78"/>
                </a:solidFill>
              </a:defRPr>
            </a:pPr>
            <a:r>
              <a:rPr sz="975" b="1">
                <a:solidFill>
                  <a:srgbClr val="5A6B78"/>
                </a:solidFill>
              </a:rPr>
              <a:t>OPEN-METEO ANALYTICS</a:t>
            </a:r>
          </a:p>
        </p:txBody>
      </p:sp>
      <p:sp>
        <p:nvSpPr>
          <p:cNvPr id="6" name="footer-9">
            <a:extLst>
              <a:ext uri="{FF2B5EF4-FFF2-40B4-BE49-F238E27FC236}">
                <a16:creationId xmlns:a16="http://schemas.microsoft.com/office/drawing/2014/main" id="{6A1DB5DE-B1DF-48FA-B6FC-A875A671AE04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43044"/>
                </a:solidFill>
              </a:defRPr>
            </a:pPr>
            <a:r>
              <a:rPr sz="1125" b="0">
                <a:solidFill>
                  <a:srgbClr val="143044"/>
                </a:solidFill>
              </a:rPr>
              <a:t>09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390525" y="1371600"/>
          <a:ext cx="5524500" cy="4686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Table 16"/>
          <p:cNvGraphicFramePr/>
          <p:nvPr>
            <p:extLst>
              <p:ext uri="{D42A27DB-BD31-4B8C-83A1-F6EECF244321}">
                <p14:modId xmlns:p14="http://schemas.microsoft.com/office/powerpoint/2010/main" val="2855988581"/>
              </p:ext>
            </p:extLst>
          </p:nvPr>
        </p:nvGraphicFramePr>
        <p:xfrm>
          <a:off x="6438900" y="1485900"/>
          <a:ext cx="5257800" cy="3143250"/>
        </p:xfrm>
        <a:graphic>
          <a:graphicData uri="http://schemas.openxmlformats.org/drawingml/2006/table">
            <a:tbl>
              <a:tblPr firstRow="1" bandRow="1"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3044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DD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3044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DD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3044"/>
                          </a:solidFill>
                        </a:rPr>
                        <a:t>Comfortable</a:t>
                      </a:r>
                    </a:p>
                  </a:txBody>
                  <a:tcPr>
                    <a:solidFill>
                      <a:srgbClr val="DD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3044"/>
                          </a:solidFill>
                        </a:rPr>
                        <a:t>Rainy</a:t>
                      </a:r>
                    </a:p>
                  </a:txBody>
                  <a:tcPr>
                    <a:solidFill>
                      <a:srgbClr val="DD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3044"/>
                          </a:solidFill>
                        </a:rPr>
                        <a:t>Hot</a:t>
                      </a:r>
                    </a:p>
                  </a:txBody>
                  <a:tcPr>
                    <a:solidFill>
                      <a:srgbClr val="D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Valencia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77.8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Barcelona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70.6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Bilbao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55.2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Seville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143044"/>
                          </a:solidFill>
                        </a:rPr>
                        <a:t>Madrid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43044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143044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sults-note">
            <a:extLst>
              <a:ext uri="{FF2B5EF4-FFF2-40B4-BE49-F238E27FC236}">
                <a16:creationId xmlns:a16="http://schemas.microsoft.com/office/drawing/2014/main" id="{4DF52089-4565-4492-9DAA-F5FCE2615C36}"/>
              </a:ext>
            </a:extLst>
          </p:cNvPr>
          <p:cNvSpPr>
            <a:spLocks noGrp="1"/>
          </p:cNvSpPr>
          <p:nvPr/>
        </p:nvSpPr>
        <p:spPr>
          <a:xfrm>
            <a:off x="6438900" y="5000625"/>
            <a:ext cx="4953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143044"/>
                </a:solidFill>
              </a:defRPr>
            </a:pPr>
            <a:r>
              <a:rPr sz="1575" b="0">
                <a:solidFill>
                  <a:srgbClr val="143044"/>
                </a:solidFill>
              </a:rPr>
              <a:t>All cities have 25 weather days in the final fact. Air quality contributes only where matching daily AQ data exists, which is why coverage is shown separately in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146771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emo-band">
            <a:extLst>
              <a:ext uri="{FF2B5EF4-FFF2-40B4-BE49-F238E27FC236}">
                <a16:creationId xmlns:a16="http://schemas.microsoft.com/office/drawing/2014/main" id="{D885EBCE-9C33-40BD-9E26-57D4CC2E92CF}"/>
              </a:ext>
            </a:extLst>
          </p:cNvPr>
          <p:cNvSpPr>
            <a:spLocks noGrp="1"/>
          </p:cNvSpPr>
          <p:nvPr/>
        </p:nvSpPr>
        <p:spPr>
          <a:xfrm>
            <a:off x="0" y="4686300"/>
            <a:ext cx="12192000" cy="2171700"/>
          </a:xfrm>
          <a:prstGeom prst="rect">
            <a:avLst/>
          </a:prstGeom>
          <a:solidFill>
            <a:srgbClr val="1E4E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demo-accent">
            <a:extLst>
              <a:ext uri="{FF2B5EF4-FFF2-40B4-BE49-F238E27FC236}">
                <a16:creationId xmlns:a16="http://schemas.microsoft.com/office/drawing/2014/main" id="{1B541EAA-8D5A-4957-A28D-22F08971E939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1123950" cy="7620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emo-eyebrow">
            <a:extLst>
              <a:ext uri="{FF2B5EF4-FFF2-40B4-BE49-F238E27FC236}">
                <a16:creationId xmlns:a16="http://schemas.microsoft.com/office/drawing/2014/main" id="{9B5E6DC7-5B76-4BCA-85EB-FD1DBD377373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</a:rPr>
              <a:t>LIVE DEMO</a:t>
            </a:r>
          </a:p>
        </p:txBody>
      </p:sp>
      <p:sp>
        <p:nvSpPr>
          <p:cNvPr id="4" name="demo-title">
            <a:extLst>
              <a:ext uri="{FF2B5EF4-FFF2-40B4-BE49-F238E27FC236}">
                <a16:creationId xmlns:a16="http://schemas.microsoft.com/office/drawing/2014/main" id="{DDDD8441-3458-49FA-81B8-EB14C3D18E53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6191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Live Streamlit demo</a:t>
            </a:r>
          </a:p>
        </p:txBody>
      </p:sp>
      <p:sp>
        <p:nvSpPr>
          <p:cNvPr id="5" name="demo-subtitle">
            <a:extLst>
              <a:ext uri="{FF2B5EF4-FFF2-40B4-BE49-F238E27FC236}">
                <a16:creationId xmlns:a16="http://schemas.microsoft.com/office/drawing/2014/main" id="{89DFF78D-FB89-4046-A79C-0995037439C8}"/>
              </a:ext>
            </a:extLst>
          </p:cNvPr>
          <p:cNvSpPr>
            <a:spLocks noGrp="1"/>
          </p:cNvSpPr>
          <p:nvPr/>
        </p:nvSpPr>
        <p:spPr>
          <a:xfrm>
            <a:off x="495300" y="3028950"/>
            <a:ext cx="676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8E9EF"/>
                </a:solidFill>
              </a:defRPr>
            </a:pPr>
            <a:r>
              <a:rPr sz="1800" b="0">
                <a:solidFill>
                  <a:srgbClr val="D8E9EF"/>
                </a:solidFill>
              </a:rPr>
              <a:t>We have shown the pipeline and model logic. Now we switch to the dashboard and present the final user-facing product.</a:t>
            </a:r>
          </a:p>
        </p:txBody>
      </p:sp>
      <p:sp>
        <p:nvSpPr>
          <p:cNvPr id="6" name="demo-command">
            <a:extLst>
              <a:ext uri="{FF2B5EF4-FFF2-40B4-BE49-F238E27FC236}">
                <a16:creationId xmlns:a16="http://schemas.microsoft.com/office/drawing/2014/main" id="{E3BD7BC4-08A5-4525-A344-416F968B47CC}"/>
              </a:ext>
            </a:extLst>
          </p:cNvPr>
          <p:cNvSpPr>
            <a:spLocks noGrp="1"/>
          </p:cNvSpPr>
          <p:nvPr/>
        </p:nvSpPr>
        <p:spPr>
          <a:xfrm>
            <a:off x="7848600" y="1466850"/>
            <a:ext cx="3505200" cy="2343150"/>
          </a:xfrm>
          <a:prstGeom prst="roundRect">
            <a:avLst>
              <a:gd name="adj" fmla="val 3252"/>
            </a:avLst>
          </a:prstGeom>
          <a:solidFill>
            <a:srgbClr val="F4FAFC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demo-command-title">
            <a:extLst>
              <a:ext uri="{FF2B5EF4-FFF2-40B4-BE49-F238E27FC236}">
                <a16:creationId xmlns:a16="http://schemas.microsoft.com/office/drawing/2014/main" id="{E6BDD6DD-575B-4516-9222-C94629608C41}"/>
              </a:ext>
            </a:extLst>
          </p:cNvPr>
          <p:cNvSpPr>
            <a:spLocks noGrp="1"/>
          </p:cNvSpPr>
          <p:nvPr/>
        </p:nvSpPr>
        <p:spPr>
          <a:xfrm>
            <a:off x="8191500" y="18669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43044"/>
                </a:solidFill>
              </a:defRPr>
            </a:pPr>
            <a:r>
              <a:rPr sz="1875" b="1" dirty="0">
                <a:solidFill>
                  <a:srgbClr val="143044"/>
                </a:solidFill>
              </a:rPr>
              <a:t>Open locally</a:t>
            </a:r>
          </a:p>
        </p:txBody>
      </p:sp>
      <p:sp>
        <p:nvSpPr>
          <p:cNvPr id="8" name="demo-command-text">
            <a:extLst>
              <a:ext uri="{FF2B5EF4-FFF2-40B4-BE49-F238E27FC236}">
                <a16:creationId xmlns:a16="http://schemas.microsoft.com/office/drawing/2014/main" id="{065372D2-882F-4BB2-A37C-840DCF7F83E4}"/>
              </a:ext>
            </a:extLst>
          </p:cNvPr>
          <p:cNvSpPr>
            <a:spLocks noGrp="1"/>
          </p:cNvSpPr>
          <p:nvPr/>
        </p:nvSpPr>
        <p:spPr>
          <a:xfrm>
            <a:off x="8191500" y="2419350"/>
            <a:ext cx="27622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43044"/>
                </a:solidFill>
              </a:defRPr>
            </a:pPr>
            <a:r>
              <a:rPr sz="1350" b="0" dirty="0" err="1">
                <a:solidFill>
                  <a:srgbClr val="143044"/>
                </a:solidFill>
              </a:rPr>
              <a:t>uv</a:t>
            </a:r>
            <a:r>
              <a:rPr sz="1350" b="0" dirty="0">
                <a:solidFill>
                  <a:srgbClr val="143044"/>
                </a:solidFill>
              </a:rPr>
              <a:t> run </a:t>
            </a:r>
            <a:r>
              <a:rPr sz="1350" b="0" dirty="0" err="1">
                <a:solidFill>
                  <a:srgbClr val="143044"/>
                </a:solidFill>
              </a:rPr>
              <a:t>streamlit</a:t>
            </a:r>
            <a:r>
              <a:rPr sz="1350" b="0" dirty="0">
                <a:solidFill>
                  <a:srgbClr val="143044"/>
                </a:solidFill>
              </a:rPr>
              <a:t> run</a:t>
            </a:r>
          </a:p>
          <a:p>
            <a:pPr algn="ctr">
              <a:defRPr sz="1350" b="0">
                <a:solidFill>
                  <a:srgbClr val="143044"/>
                </a:solidFill>
              </a:defRPr>
            </a:pPr>
            <a:r>
              <a:rPr sz="1350" b="0" dirty="0" err="1">
                <a:solidFill>
                  <a:srgbClr val="143044"/>
                </a:solidFill>
              </a:rPr>
              <a:t>streamlit_app</a:t>
            </a:r>
            <a:r>
              <a:rPr sz="1350" b="0" dirty="0">
                <a:solidFill>
                  <a:srgbClr val="143044"/>
                </a:solidFill>
              </a:rPr>
              <a:t>/</a:t>
            </a:r>
            <a:r>
              <a:rPr sz="1350" b="0" dirty="0" err="1">
                <a:solidFill>
                  <a:srgbClr val="143044"/>
                </a:solidFill>
              </a:rPr>
              <a:t>app.py</a:t>
            </a:r>
            <a:endParaRPr sz="1350" b="0" dirty="0">
              <a:solidFill>
                <a:srgbClr val="143044"/>
              </a:solidFill>
            </a:endParaRPr>
          </a:p>
          <a:p>
            <a:pPr algn="ctr"/>
            <a:endParaRPr sz="1350" b="0" dirty="0">
              <a:solidFill>
                <a:srgbClr val="143044"/>
              </a:solidFill>
            </a:endParaRPr>
          </a:p>
          <a:p>
            <a:pPr algn="ctr">
              <a:defRPr sz="1350" b="0">
                <a:solidFill>
                  <a:srgbClr val="143044"/>
                </a:solidFill>
              </a:defRPr>
            </a:pPr>
            <a:r>
              <a:rPr sz="1350" b="0" dirty="0">
                <a:solidFill>
                  <a:srgbClr val="143044"/>
                </a:solidFill>
              </a:rPr>
              <a:t>http://localhost:8501</a:t>
            </a:r>
          </a:p>
        </p:txBody>
      </p:sp>
      <p:sp>
        <p:nvSpPr>
          <p:cNvPr id="9" name="demo-step-0">
            <a:extLst>
              <a:ext uri="{FF2B5EF4-FFF2-40B4-BE49-F238E27FC236}">
                <a16:creationId xmlns:a16="http://schemas.microsoft.com/office/drawing/2014/main" id="{1D0E68D5-9056-4487-A826-6762EF950446}"/>
              </a:ext>
            </a:extLst>
          </p:cNvPr>
          <p:cNvSpPr>
            <a:spLocks noGrp="1"/>
          </p:cNvSpPr>
          <p:nvPr/>
        </p:nvSpPr>
        <p:spPr>
          <a:xfrm>
            <a:off x="1581150" y="5162550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demo-step-number-0">
            <a:extLst>
              <a:ext uri="{FF2B5EF4-FFF2-40B4-BE49-F238E27FC236}">
                <a16:creationId xmlns:a16="http://schemas.microsoft.com/office/drawing/2014/main" id="{33D6E97C-A4A3-44C0-A2D0-E94C731353E1}"/>
              </a:ext>
            </a:extLst>
          </p:cNvPr>
          <p:cNvSpPr>
            <a:spLocks noGrp="1"/>
          </p:cNvSpPr>
          <p:nvPr/>
        </p:nvSpPr>
        <p:spPr>
          <a:xfrm>
            <a:off x="1809750" y="542925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9735B"/>
                </a:solidFill>
              </a:defRPr>
            </a:pPr>
            <a:r>
              <a:rPr sz="2550" b="1">
                <a:solidFill>
                  <a:srgbClr val="F9735B"/>
                </a:solidFill>
              </a:rPr>
              <a:t>1</a:t>
            </a:r>
          </a:p>
        </p:txBody>
      </p:sp>
      <p:sp>
        <p:nvSpPr>
          <p:cNvPr id="11" name="demo-step-copy-0">
            <a:extLst>
              <a:ext uri="{FF2B5EF4-FFF2-40B4-BE49-F238E27FC236}">
                <a16:creationId xmlns:a16="http://schemas.microsoft.com/office/drawing/2014/main" id="{5EC64E74-99FF-4366-A294-75A6EBE94023}"/>
              </a:ext>
            </a:extLst>
          </p:cNvPr>
          <p:cNvSpPr>
            <a:spLocks noGrp="1"/>
          </p:cNvSpPr>
          <p:nvPr/>
        </p:nvSpPr>
        <p:spPr>
          <a:xfrm>
            <a:off x="2305050" y="54483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43044"/>
                </a:solidFill>
              </a:defRPr>
            </a:pPr>
            <a:r>
              <a:rPr sz="1350" b="0">
                <a:solidFill>
                  <a:srgbClr val="143044"/>
                </a:solidFill>
              </a:rPr>
              <a:t>Filter cities and date range</a:t>
            </a:r>
          </a:p>
        </p:txBody>
      </p:sp>
      <p:sp>
        <p:nvSpPr>
          <p:cNvPr id="12" name="demo-step-1">
            <a:extLst>
              <a:ext uri="{FF2B5EF4-FFF2-40B4-BE49-F238E27FC236}">
                <a16:creationId xmlns:a16="http://schemas.microsoft.com/office/drawing/2014/main" id="{9F4A6644-634C-4751-8E50-635F3A20921C}"/>
              </a:ext>
            </a:extLst>
          </p:cNvPr>
          <p:cNvSpPr>
            <a:spLocks noGrp="1"/>
          </p:cNvSpPr>
          <p:nvPr/>
        </p:nvSpPr>
        <p:spPr>
          <a:xfrm>
            <a:off x="4610100" y="5162550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demo-step-number-1">
            <a:extLst>
              <a:ext uri="{FF2B5EF4-FFF2-40B4-BE49-F238E27FC236}">
                <a16:creationId xmlns:a16="http://schemas.microsoft.com/office/drawing/2014/main" id="{219F788B-05B4-4B71-BEDC-F650B87FF36C}"/>
              </a:ext>
            </a:extLst>
          </p:cNvPr>
          <p:cNvSpPr>
            <a:spLocks noGrp="1"/>
          </p:cNvSpPr>
          <p:nvPr/>
        </p:nvSpPr>
        <p:spPr>
          <a:xfrm>
            <a:off x="4838700" y="542925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9735B"/>
                </a:solidFill>
              </a:defRPr>
            </a:pPr>
            <a:r>
              <a:rPr sz="2550" b="1">
                <a:solidFill>
                  <a:srgbClr val="F9735B"/>
                </a:solidFill>
              </a:rPr>
              <a:t>2</a:t>
            </a:r>
          </a:p>
        </p:txBody>
      </p:sp>
      <p:sp>
        <p:nvSpPr>
          <p:cNvPr id="14" name="demo-step-copy-1">
            <a:extLst>
              <a:ext uri="{FF2B5EF4-FFF2-40B4-BE49-F238E27FC236}">
                <a16:creationId xmlns:a16="http://schemas.microsoft.com/office/drawing/2014/main" id="{4262572A-71FD-4C57-BC87-AC223ED9DD5C}"/>
              </a:ext>
            </a:extLst>
          </p:cNvPr>
          <p:cNvSpPr>
            <a:spLocks noGrp="1"/>
          </p:cNvSpPr>
          <p:nvPr/>
        </p:nvSpPr>
        <p:spPr>
          <a:xfrm>
            <a:off x="5334000" y="54483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43044"/>
                </a:solidFill>
              </a:defRPr>
            </a:pPr>
            <a:r>
              <a:rPr sz="1350" b="0">
                <a:solidFill>
                  <a:srgbClr val="143044"/>
                </a:solidFill>
              </a:rPr>
              <a:t>Show comfort-score ranking</a:t>
            </a:r>
          </a:p>
        </p:txBody>
      </p:sp>
      <p:sp>
        <p:nvSpPr>
          <p:cNvPr id="15" name="demo-step-2">
            <a:extLst>
              <a:ext uri="{FF2B5EF4-FFF2-40B4-BE49-F238E27FC236}">
                <a16:creationId xmlns:a16="http://schemas.microsoft.com/office/drawing/2014/main" id="{EC43FEE9-6288-42E2-997F-AED5C815607D}"/>
              </a:ext>
            </a:extLst>
          </p:cNvPr>
          <p:cNvSpPr>
            <a:spLocks noGrp="1"/>
          </p:cNvSpPr>
          <p:nvPr/>
        </p:nvSpPr>
        <p:spPr>
          <a:xfrm>
            <a:off x="7639050" y="5162550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demo-step-number-2">
            <a:extLst>
              <a:ext uri="{FF2B5EF4-FFF2-40B4-BE49-F238E27FC236}">
                <a16:creationId xmlns:a16="http://schemas.microsoft.com/office/drawing/2014/main" id="{B89ABE25-6453-4D0A-A487-CE3FF3B7F007}"/>
              </a:ext>
            </a:extLst>
          </p:cNvPr>
          <p:cNvSpPr>
            <a:spLocks noGrp="1"/>
          </p:cNvSpPr>
          <p:nvPr/>
        </p:nvSpPr>
        <p:spPr>
          <a:xfrm>
            <a:off x="7867650" y="542925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9735B"/>
                </a:solidFill>
              </a:defRPr>
            </a:pPr>
            <a:r>
              <a:rPr sz="2550" b="1">
                <a:solidFill>
                  <a:srgbClr val="F9735B"/>
                </a:solidFill>
              </a:rPr>
              <a:t>3</a:t>
            </a:r>
          </a:p>
        </p:txBody>
      </p:sp>
      <p:sp>
        <p:nvSpPr>
          <p:cNvPr id="17" name="demo-step-copy-2">
            <a:extLst>
              <a:ext uri="{FF2B5EF4-FFF2-40B4-BE49-F238E27FC236}">
                <a16:creationId xmlns:a16="http://schemas.microsoft.com/office/drawing/2014/main" id="{4C729FEE-ED75-4B8E-9030-54673C4776D0}"/>
              </a:ext>
            </a:extLst>
          </p:cNvPr>
          <p:cNvSpPr>
            <a:spLocks noGrp="1"/>
          </p:cNvSpPr>
          <p:nvPr/>
        </p:nvSpPr>
        <p:spPr>
          <a:xfrm>
            <a:off x="8362950" y="54483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43044"/>
                </a:solidFill>
              </a:defRPr>
            </a:pPr>
            <a:r>
              <a:rPr sz="1350" b="0">
                <a:solidFill>
                  <a:srgbClr val="143044"/>
                </a:solidFill>
              </a:rPr>
              <a:t>Explain AQ coverage and daily detail</a:t>
            </a:r>
          </a:p>
        </p:txBody>
      </p:sp>
      <p:sp>
        <p:nvSpPr>
          <p:cNvPr id="18" name="demo-footer-brand">
            <a:extLst>
              <a:ext uri="{FF2B5EF4-FFF2-40B4-BE49-F238E27FC236}">
                <a16:creationId xmlns:a16="http://schemas.microsoft.com/office/drawing/2014/main" id="{72B5EE93-06EE-4E76-BB09-7F9B4053AACF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D8E9EF"/>
                </a:solidFill>
              </a:defRPr>
            </a:pPr>
            <a:r>
              <a:rPr sz="975" b="1">
                <a:solidFill>
                  <a:srgbClr val="D8E9EF"/>
                </a:solidFill>
              </a:rPr>
              <a:t>OPEN-METEO ANALYTICS</a:t>
            </a:r>
          </a:p>
        </p:txBody>
      </p:sp>
      <p:sp>
        <p:nvSpPr>
          <p:cNvPr id="19" name="demo-footer">
            <a:extLst>
              <a:ext uri="{FF2B5EF4-FFF2-40B4-BE49-F238E27FC236}">
                <a16:creationId xmlns:a16="http://schemas.microsoft.com/office/drawing/2014/main" id="{C6A7B15B-29A2-4C63-9FCC-31FE697CF365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D8E9EF"/>
                </a:solidFill>
              </a:defRPr>
            </a:pPr>
            <a:r>
              <a:rPr sz="1125" b="0">
                <a:solidFill>
                  <a:srgbClr val="D8E9E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626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op-wash-11">
            <a:extLst>
              <a:ext uri="{FF2B5EF4-FFF2-40B4-BE49-F238E27FC236}">
                <a16:creationId xmlns:a16="http://schemas.microsoft.com/office/drawing/2014/main" id="{BAD245F5-895B-49D7-BAF6-AA34F099C1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DDF2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ccent-rail-11">
            <a:extLst>
              <a:ext uri="{FF2B5EF4-FFF2-40B4-BE49-F238E27FC236}">
                <a16:creationId xmlns:a16="http://schemas.microsoft.com/office/drawing/2014/main" id="{EE42526C-2A94-4DB7-A699-1B69E10AD2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-11">
            <a:extLst>
              <a:ext uri="{FF2B5EF4-FFF2-40B4-BE49-F238E27FC236}">
                <a16:creationId xmlns:a16="http://schemas.microsoft.com/office/drawing/2014/main" id="{4424F8F6-07B6-4067-A531-5BA1CB3A8A5E}"/>
              </a:ext>
            </a:extLst>
          </p:cNvPr>
          <p:cNvSpPr>
            <a:spLocks noGrp="1"/>
          </p:cNvSpPr>
          <p:nvPr/>
        </p:nvSpPr>
        <p:spPr>
          <a:xfrm>
            <a:off x="495300" y="2095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A6B78"/>
                </a:solidFill>
              </a:defRPr>
            </a:pPr>
            <a:r>
              <a:rPr sz="900" b="1">
                <a:solidFill>
                  <a:srgbClr val="5A6B78"/>
                </a:solidFill>
              </a:rPr>
              <a:t>STREAMLIT PRODUCT</a:t>
            </a:r>
          </a:p>
        </p:txBody>
      </p:sp>
      <p:sp>
        <p:nvSpPr>
          <p:cNvPr id="4" name="title-11">
            <a:extLst>
              <a:ext uri="{FF2B5EF4-FFF2-40B4-BE49-F238E27FC236}">
                <a16:creationId xmlns:a16="http://schemas.microsoft.com/office/drawing/2014/main" id="{499EE5D5-0BF9-4210-9476-76B40ACBE544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933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43044"/>
                </a:solidFill>
              </a:defRPr>
            </a:pPr>
            <a:r>
              <a:rPr sz="3000" b="1">
                <a:solidFill>
                  <a:srgbClr val="143044"/>
                </a:solidFill>
              </a:rPr>
              <a:t>The dashboard is a thin layer over final mart tables</a:t>
            </a:r>
          </a:p>
        </p:txBody>
      </p:sp>
      <p:sp>
        <p:nvSpPr>
          <p:cNvPr id="5" name="footer-brand-11">
            <a:extLst>
              <a:ext uri="{FF2B5EF4-FFF2-40B4-BE49-F238E27FC236}">
                <a16:creationId xmlns:a16="http://schemas.microsoft.com/office/drawing/2014/main" id="{3A8237EE-C9B4-401B-A570-DAECB2578EE6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A6B78"/>
                </a:solidFill>
              </a:defRPr>
            </a:pPr>
            <a:r>
              <a:rPr sz="975" b="1">
                <a:solidFill>
                  <a:srgbClr val="5A6B78"/>
                </a:solidFill>
              </a:rPr>
              <a:t>OPEN-METEO ANALYTICS</a:t>
            </a:r>
          </a:p>
        </p:txBody>
      </p:sp>
      <p:sp>
        <p:nvSpPr>
          <p:cNvPr id="6" name="footer-11">
            <a:extLst>
              <a:ext uri="{FF2B5EF4-FFF2-40B4-BE49-F238E27FC236}">
                <a16:creationId xmlns:a16="http://schemas.microsoft.com/office/drawing/2014/main" id="{4CF73940-CF8E-4B35-912E-E692CF5D1351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43044"/>
                </a:solidFill>
              </a:defRPr>
            </a:pPr>
            <a:r>
              <a:rPr sz="1125" b="0">
                <a:solidFill>
                  <a:srgbClr val="143044"/>
                </a:solidFill>
              </a:rPr>
              <a:t>11</a:t>
            </a:r>
          </a:p>
        </p:txBody>
      </p:sp>
      <p:sp>
        <p:nvSpPr>
          <p:cNvPr id="7" name="metric-card-dash-1">
            <a:extLst>
              <a:ext uri="{FF2B5EF4-FFF2-40B4-BE49-F238E27FC236}">
                <a16:creationId xmlns:a16="http://schemas.microsoft.com/office/drawing/2014/main" id="{19A46CA6-2284-4191-BB84-1E5EBA944A2A}"/>
              </a:ext>
            </a:extLst>
          </p:cNvPr>
          <p:cNvSpPr>
            <a:spLocks noGrp="1"/>
          </p:cNvSpPr>
          <p:nvPr/>
        </p:nvSpPr>
        <p:spPr>
          <a:xfrm>
            <a:off x="390525" y="1676400"/>
            <a:ext cx="233362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8" name="metric-accent-dash-1">
            <a:extLst>
              <a:ext uri="{FF2B5EF4-FFF2-40B4-BE49-F238E27FC236}">
                <a16:creationId xmlns:a16="http://schemas.microsoft.com/office/drawing/2014/main" id="{3ED84807-8EAD-45F8-A72C-B3100089CD32}"/>
              </a:ext>
            </a:extLst>
          </p:cNvPr>
          <p:cNvSpPr>
            <a:spLocks noGrp="1"/>
          </p:cNvSpPr>
          <p:nvPr/>
        </p:nvSpPr>
        <p:spPr>
          <a:xfrm>
            <a:off x="390525" y="1676400"/>
            <a:ext cx="66675" cy="152400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9" name="metric-stat-dash-1">
            <a:extLst>
              <a:ext uri="{FF2B5EF4-FFF2-40B4-BE49-F238E27FC236}">
                <a16:creationId xmlns:a16="http://schemas.microsoft.com/office/drawing/2014/main" id="{DD2E426B-1CBF-4A2D-92C7-E1C66F0326F6}"/>
              </a:ext>
            </a:extLst>
          </p:cNvPr>
          <p:cNvSpPr>
            <a:spLocks noGrp="1"/>
          </p:cNvSpPr>
          <p:nvPr/>
        </p:nvSpPr>
        <p:spPr>
          <a:xfrm>
            <a:off x="619125" y="1981200"/>
            <a:ext cx="1876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143044"/>
                </a:solidFill>
              </a:defRPr>
            </a:pPr>
            <a:r>
              <a:rPr sz="3600" b="1">
                <a:solidFill>
                  <a:srgbClr val="143044"/>
                </a:solidFill>
              </a:rPr>
              <a:t>4</a:t>
            </a:r>
          </a:p>
        </p:txBody>
      </p:sp>
      <p:sp>
        <p:nvSpPr>
          <p:cNvPr id="10" name="metric-label-dash-1">
            <a:extLst>
              <a:ext uri="{FF2B5EF4-FFF2-40B4-BE49-F238E27FC236}">
                <a16:creationId xmlns:a16="http://schemas.microsoft.com/office/drawing/2014/main" id="{3F7C69E0-24FB-421B-AFDA-DA0753979F6D}"/>
              </a:ext>
            </a:extLst>
          </p:cNvPr>
          <p:cNvSpPr>
            <a:spLocks noGrp="1"/>
          </p:cNvSpPr>
          <p:nvPr/>
        </p:nvSpPr>
        <p:spPr>
          <a:xfrm>
            <a:off x="638175" y="2743200"/>
            <a:ext cx="1838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A6B78"/>
                </a:solidFill>
              </a:defRPr>
            </a:pPr>
            <a:r>
              <a:rPr sz="1350" b="0">
                <a:solidFill>
                  <a:srgbClr val="5A6B78"/>
                </a:solidFill>
              </a:rPr>
              <a:t>mart models queried</a:t>
            </a:r>
          </a:p>
        </p:txBody>
      </p:sp>
      <p:sp>
        <p:nvSpPr>
          <p:cNvPr id="11" name="metric-card-dash-2">
            <a:extLst>
              <a:ext uri="{FF2B5EF4-FFF2-40B4-BE49-F238E27FC236}">
                <a16:creationId xmlns:a16="http://schemas.microsoft.com/office/drawing/2014/main" id="{B0B56F12-0C4C-4530-95E2-7913B9262048}"/>
              </a:ext>
            </a:extLst>
          </p:cNvPr>
          <p:cNvSpPr>
            <a:spLocks noGrp="1"/>
          </p:cNvSpPr>
          <p:nvPr/>
        </p:nvSpPr>
        <p:spPr>
          <a:xfrm>
            <a:off x="2971800" y="1676400"/>
            <a:ext cx="233362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12" name="metric-accent-dash-2">
            <a:extLst>
              <a:ext uri="{FF2B5EF4-FFF2-40B4-BE49-F238E27FC236}">
                <a16:creationId xmlns:a16="http://schemas.microsoft.com/office/drawing/2014/main" id="{7363F6B7-E0B5-4924-B0A3-0D9F9B80E29B}"/>
              </a:ext>
            </a:extLst>
          </p:cNvPr>
          <p:cNvSpPr>
            <a:spLocks noGrp="1"/>
          </p:cNvSpPr>
          <p:nvPr/>
        </p:nvSpPr>
        <p:spPr>
          <a:xfrm>
            <a:off x="2971800" y="1676400"/>
            <a:ext cx="66675" cy="152400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3" name="metric-stat-dash-2">
            <a:extLst>
              <a:ext uri="{FF2B5EF4-FFF2-40B4-BE49-F238E27FC236}">
                <a16:creationId xmlns:a16="http://schemas.microsoft.com/office/drawing/2014/main" id="{936D6146-9F72-46AB-BBA6-94BEA8E527AF}"/>
              </a:ext>
            </a:extLst>
          </p:cNvPr>
          <p:cNvSpPr>
            <a:spLocks noGrp="1"/>
          </p:cNvSpPr>
          <p:nvPr/>
        </p:nvSpPr>
        <p:spPr>
          <a:xfrm>
            <a:off x="3200400" y="1981200"/>
            <a:ext cx="1876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143044"/>
                </a:solidFill>
              </a:defRPr>
            </a:pPr>
            <a:r>
              <a:rPr sz="3600" b="1">
                <a:solidFill>
                  <a:srgbClr val="143044"/>
                </a:solidFill>
              </a:rPr>
              <a:t>5</a:t>
            </a:r>
          </a:p>
        </p:txBody>
      </p:sp>
      <p:sp>
        <p:nvSpPr>
          <p:cNvPr id="14" name="metric-label-dash-2">
            <a:extLst>
              <a:ext uri="{FF2B5EF4-FFF2-40B4-BE49-F238E27FC236}">
                <a16:creationId xmlns:a16="http://schemas.microsoft.com/office/drawing/2014/main" id="{682167B2-9015-4406-A9F9-C5EB35BDE64D}"/>
              </a:ext>
            </a:extLst>
          </p:cNvPr>
          <p:cNvSpPr>
            <a:spLocks noGrp="1"/>
          </p:cNvSpPr>
          <p:nvPr/>
        </p:nvSpPr>
        <p:spPr>
          <a:xfrm>
            <a:off x="3219450" y="2743200"/>
            <a:ext cx="1838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A6B78"/>
                </a:solidFill>
              </a:defRPr>
            </a:pPr>
            <a:r>
              <a:rPr sz="1350" b="0">
                <a:solidFill>
                  <a:srgbClr val="5A6B78"/>
                </a:solidFill>
              </a:rPr>
              <a:t>city filter options</a:t>
            </a:r>
          </a:p>
        </p:txBody>
      </p:sp>
      <p:sp>
        <p:nvSpPr>
          <p:cNvPr id="15" name="metric-card-dash-3">
            <a:extLst>
              <a:ext uri="{FF2B5EF4-FFF2-40B4-BE49-F238E27FC236}">
                <a16:creationId xmlns:a16="http://schemas.microsoft.com/office/drawing/2014/main" id="{144867B7-DF96-4089-BE3D-8123F54E3769}"/>
              </a:ext>
            </a:extLst>
          </p:cNvPr>
          <p:cNvSpPr>
            <a:spLocks noGrp="1"/>
          </p:cNvSpPr>
          <p:nvPr/>
        </p:nvSpPr>
        <p:spPr>
          <a:xfrm>
            <a:off x="5543550" y="1676400"/>
            <a:ext cx="233362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16" name="metric-accent-dash-3">
            <a:extLst>
              <a:ext uri="{FF2B5EF4-FFF2-40B4-BE49-F238E27FC236}">
                <a16:creationId xmlns:a16="http://schemas.microsoft.com/office/drawing/2014/main" id="{3ECBFC0C-FF37-492A-83FF-E02BFD3C97DE}"/>
              </a:ext>
            </a:extLst>
          </p:cNvPr>
          <p:cNvSpPr>
            <a:spLocks noGrp="1"/>
          </p:cNvSpPr>
          <p:nvPr/>
        </p:nvSpPr>
        <p:spPr>
          <a:xfrm>
            <a:off x="5543550" y="1676400"/>
            <a:ext cx="66675" cy="152400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7" name="metric-stat-dash-3">
            <a:extLst>
              <a:ext uri="{FF2B5EF4-FFF2-40B4-BE49-F238E27FC236}">
                <a16:creationId xmlns:a16="http://schemas.microsoft.com/office/drawing/2014/main" id="{F8DE3740-768C-4132-83DE-4898F776D90A}"/>
              </a:ext>
            </a:extLst>
          </p:cNvPr>
          <p:cNvSpPr>
            <a:spLocks noGrp="1"/>
          </p:cNvSpPr>
          <p:nvPr/>
        </p:nvSpPr>
        <p:spPr>
          <a:xfrm>
            <a:off x="5772150" y="1981200"/>
            <a:ext cx="1876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143044"/>
                </a:solidFill>
              </a:defRPr>
            </a:pPr>
            <a:r>
              <a:rPr sz="3600" b="1">
                <a:solidFill>
                  <a:srgbClr val="143044"/>
                </a:solidFill>
              </a:rPr>
              <a:t>125</a:t>
            </a:r>
          </a:p>
        </p:txBody>
      </p:sp>
      <p:sp>
        <p:nvSpPr>
          <p:cNvPr id="18" name="metric-label-dash-3">
            <a:extLst>
              <a:ext uri="{FF2B5EF4-FFF2-40B4-BE49-F238E27FC236}">
                <a16:creationId xmlns:a16="http://schemas.microsoft.com/office/drawing/2014/main" id="{7DB68A3F-EE27-414A-89EA-F5A932F94033}"/>
              </a:ext>
            </a:extLst>
          </p:cNvPr>
          <p:cNvSpPr>
            <a:spLocks noGrp="1"/>
          </p:cNvSpPr>
          <p:nvPr/>
        </p:nvSpPr>
        <p:spPr>
          <a:xfrm>
            <a:off x="5791200" y="2743200"/>
            <a:ext cx="1838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A6B78"/>
                </a:solidFill>
              </a:defRPr>
            </a:pPr>
            <a:r>
              <a:rPr sz="1350" b="0">
                <a:solidFill>
                  <a:srgbClr val="5A6B78"/>
                </a:solidFill>
              </a:rPr>
              <a:t>weather fact rows</a:t>
            </a:r>
          </a:p>
        </p:txBody>
      </p:sp>
      <p:sp>
        <p:nvSpPr>
          <p:cNvPr id="19" name="metric-card-dash-4">
            <a:extLst>
              <a:ext uri="{FF2B5EF4-FFF2-40B4-BE49-F238E27FC236}">
                <a16:creationId xmlns:a16="http://schemas.microsoft.com/office/drawing/2014/main" id="{B6D5721B-CE52-475A-B592-1F3833581B18}"/>
              </a:ext>
            </a:extLst>
          </p:cNvPr>
          <p:cNvSpPr>
            <a:spLocks noGrp="1"/>
          </p:cNvSpPr>
          <p:nvPr/>
        </p:nvSpPr>
        <p:spPr>
          <a:xfrm>
            <a:off x="8124825" y="1676400"/>
            <a:ext cx="233362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20" name="metric-accent-dash-4">
            <a:extLst>
              <a:ext uri="{FF2B5EF4-FFF2-40B4-BE49-F238E27FC236}">
                <a16:creationId xmlns:a16="http://schemas.microsoft.com/office/drawing/2014/main" id="{A73B2E30-FF09-48EA-9BEE-4DA41F11AC8A}"/>
              </a:ext>
            </a:extLst>
          </p:cNvPr>
          <p:cNvSpPr>
            <a:spLocks noGrp="1"/>
          </p:cNvSpPr>
          <p:nvPr/>
        </p:nvSpPr>
        <p:spPr>
          <a:xfrm>
            <a:off x="8124825" y="1676400"/>
            <a:ext cx="66675" cy="1524000"/>
          </a:xfrm>
          <a:prstGeom prst="rect">
            <a:avLst/>
          </a:prstGeom>
          <a:solidFill>
            <a:srgbClr val="FFB84D"/>
          </a:solidFill>
          <a:ln w="0">
            <a:noFill/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metric-stat-dash-4">
            <a:extLst>
              <a:ext uri="{FF2B5EF4-FFF2-40B4-BE49-F238E27FC236}">
                <a16:creationId xmlns:a16="http://schemas.microsoft.com/office/drawing/2014/main" id="{C8691397-69E7-4B96-996E-4F3FDF49B2A2}"/>
              </a:ext>
            </a:extLst>
          </p:cNvPr>
          <p:cNvSpPr>
            <a:spLocks noGrp="1"/>
          </p:cNvSpPr>
          <p:nvPr/>
        </p:nvSpPr>
        <p:spPr>
          <a:xfrm>
            <a:off x="8353425" y="1981200"/>
            <a:ext cx="1876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143044"/>
                </a:solidFill>
              </a:defRPr>
            </a:pPr>
            <a:r>
              <a:rPr sz="3600" b="1">
                <a:solidFill>
                  <a:srgbClr val="143044"/>
                </a:solidFill>
              </a:rPr>
              <a:t>25</a:t>
            </a:r>
          </a:p>
        </p:txBody>
      </p:sp>
      <p:sp>
        <p:nvSpPr>
          <p:cNvPr id="22" name="metric-label-dash-4">
            <a:extLst>
              <a:ext uri="{FF2B5EF4-FFF2-40B4-BE49-F238E27FC236}">
                <a16:creationId xmlns:a16="http://schemas.microsoft.com/office/drawing/2014/main" id="{64607ACF-109A-44B7-B58B-197C7900B977}"/>
              </a:ext>
            </a:extLst>
          </p:cNvPr>
          <p:cNvSpPr>
            <a:spLocks noGrp="1"/>
          </p:cNvSpPr>
          <p:nvPr/>
        </p:nvSpPr>
        <p:spPr>
          <a:xfrm>
            <a:off x="8372475" y="2743200"/>
            <a:ext cx="1838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A6B78"/>
                </a:solidFill>
              </a:defRPr>
            </a:pPr>
            <a:r>
              <a:rPr sz="1350" b="0">
                <a:solidFill>
                  <a:srgbClr val="5A6B78"/>
                </a:solidFill>
              </a:rPr>
              <a:t>AQ fact rows</a:t>
            </a:r>
          </a:p>
        </p:txBody>
      </p:sp>
      <p:sp>
        <p:nvSpPr>
          <p:cNvPr id="23" name="dash-feature-label">
            <a:extLst>
              <a:ext uri="{FF2B5EF4-FFF2-40B4-BE49-F238E27FC236}">
                <a16:creationId xmlns:a16="http://schemas.microsoft.com/office/drawing/2014/main" id="{08AC850A-FCE5-4331-BDB2-2DEB9D409D02}"/>
              </a:ext>
            </a:extLst>
          </p:cNvPr>
          <p:cNvSpPr>
            <a:spLocks noGrp="1"/>
          </p:cNvSpPr>
          <p:nvPr/>
        </p:nvSpPr>
        <p:spPr>
          <a:xfrm>
            <a:off x="390525" y="3905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2A6A1"/>
                </a:solidFill>
              </a:defRPr>
            </a:pPr>
            <a:r>
              <a:rPr sz="1050" b="1">
                <a:solidFill>
                  <a:srgbClr val="22A6A1"/>
                </a:solidFill>
              </a:rPr>
              <a:t>USER WORKFLOW</a:t>
            </a:r>
          </a:p>
        </p:txBody>
      </p:sp>
      <p:sp>
        <p:nvSpPr>
          <p:cNvPr id="24" name="dash-features">
            <a:extLst>
              <a:ext uri="{FF2B5EF4-FFF2-40B4-BE49-F238E27FC236}">
                <a16:creationId xmlns:a16="http://schemas.microsoft.com/office/drawing/2014/main" id="{14573BD8-441C-44D1-ADD5-308F089F2C55}"/>
              </a:ext>
            </a:extLst>
          </p:cNvPr>
          <p:cNvSpPr>
            <a:spLocks noGrp="1"/>
          </p:cNvSpPr>
          <p:nvPr/>
        </p:nvSpPr>
        <p:spPr>
          <a:xfrm>
            <a:off x="390525" y="4286250"/>
            <a:ext cx="55245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43044"/>
                </a:solidFill>
              </a:defRPr>
            </a:pPr>
            <a:r>
              <a:rPr sz="1650" b="0">
                <a:solidFill>
                  <a:srgbClr val="143044"/>
                </a:solidFill>
              </a:rPr>
              <a:t>• Select cities and date range.</a:t>
            </a:r>
          </a:p>
          <a:p>
            <a:pPr algn="l">
              <a:defRPr sz="1650" b="0">
                <a:solidFill>
                  <a:srgbClr val="143044"/>
                </a:solidFill>
              </a:defRPr>
            </a:pPr>
            <a:r>
              <a:rPr sz="1650" b="0">
                <a:solidFill>
                  <a:srgbClr val="143044"/>
                </a:solidFill>
              </a:rPr>
              <a:t>• Compare comfort-score ranking and city KPIs.</a:t>
            </a:r>
          </a:p>
          <a:p>
            <a:pPr algn="l">
              <a:defRPr sz="1650" b="0">
                <a:solidFill>
                  <a:srgbClr val="143044"/>
                </a:solidFill>
              </a:defRPr>
            </a:pPr>
            <a:r>
              <a:rPr sz="1650" b="0">
                <a:solidFill>
                  <a:srgbClr val="143044"/>
                </a:solidFill>
              </a:rPr>
              <a:t>• Inspect daily temperature trend and distribution.</a:t>
            </a:r>
          </a:p>
          <a:p>
            <a:pPr algn="l">
              <a:defRPr sz="1650" b="0">
                <a:solidFill>
                  <a:srgbClr val="143044"/>
                </a:solidFill>
              </a:defRPr>
            </a:pPr>
            <a:r>
              <a:rPr sz="1650" b="0">
                <a:solidFill>
                  <a:srgbClr val="143044"/>
                </a:solidFill>
              </a:rPr>
              <a:t>• Review sparse air-quality coverage instead of hiding missingness.</a:t>
            </a:r>
          </a:p>
          <a:p>
            <a:pPr algn="l">
              <a:defRPr sz="1650" b="0">
                <a:solidFill>
                  <a:srgbClr val="143044"/>
                </a:solidFill>
              </a:defRPr>
            </a:pPr>
            <a:r>
              <a:rPr sz="1650" b="0">
                <a:solidFill>
                  <a:srgbClr val="143044"/>
                </a:solidFill>
              </a:rPr>
              <a:t>• Open the detail table for city-day records.</a:t>
            </a:r>
          </a:p>
        </p:txBody>
      </p:sp>
      <p:sp>
        <p:nvSpPr>
          <p:cNvPr id="25" name="dash-right">
            <a:extLst>
              <a:ext uri="{FF2B5EF4-FFF2-40B4-BE49-F238E27FC236}">
                <a16:creationId xmlns:a16="http://schemas.microsoft.com/office/drawing/2014/main" id="{4BAFA2CF-DB36-4BA0-8429-6D9C3521999E}"/>
              </a:ext>
            </a:extLst>
          </p:cNvPr>
          <p:cNvSpPr>
            <a:spLocks noGrp="1"/>
          </p:cNvSpPr>
          <p:nvPr/>
        </p:nvSpPr>
        <p:spPr>
          <a:xfrm>
            <a:off x="6572250" y="4095750"/>
            <a:ext cx="521970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6" name="dash-right-title">
            <a:extLst>
              <a:ext uri="{FF2B5EF4-FFF2-40B4-BE49-F238E27FC236}">
                <a16:creationId xmlns:a16="http://schemas.microsoft.com/office/drawing/2014/main" id="{4C0A865F-87C4-4F85-9C65-56E2833D37F6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43044"/>
                </a:solidFill>
              </a:defRPr>
            </a:pPr>
            <a:r>
              <a:rPr sz="1800" b="1" dirty="0">
                <a:solidFill>
                  <a:srgbClr val="143044"/>
                </a:solidFill>
              </a:rPr>
              <a:t>Implementation detail</a:t>
            </a:r>
          </a:p>
        </p:txBody>
      </p:sp>
      <p:sp>
        <p:nvSpPr>
          <p:cNvPr id="27" name="dash-right-body">
            <a:extLst>
              <a:ext uri="{FF2B5EF4-FFF2-40B4-BE49-F238E27FC236}">
                <a16:creationId xmlns:a16="http://schemas.microsoft.com/office/drawing/2014/main" id="{64F99DB9-B5E3-430B-9C77-FBC20DA6447F}"/>
              </a:ext>
            </a:extLst>
          </p:cNvPr>
          <p:cNvSpPr>
            <a:spLocks noGrp="1"/>
          </p:cNvSpPr>
          <p:nvPr/>
        </p:nvSpPr>
        <p:spPr>
          <a:xfrm>
            <a:off x="6915150" y="4933950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43044"/>
                </a:solidFill>
              </a:defRPr>
            </a:pPr>
            <a:r>
              <a:rPr sz="1350" b="0">
                <a:solidFill>
                  <a:srgbClr val="143044"/>
                </a:solidFill>
              </a:rPr>
              <a:t>streamlit_app/app.py reads dim_location, fct_city_weather_day, fct_air_quality_city_day, and mart_city_weather_summary from open_meteo.duckdb.</a:t>
            </a:r>
          </a:p>
        </p:txBody>
      </p:sp>
    </p:spTree>
    <p:extLst>
      <p:ext uri="{BB962C8B-B14F-4D97-AF65-F5344CB8AC3E}">
        <p14:creationId xmlns:p14="http://schemas.microsoft.com/office/powerpoint/2010/main" val="1089509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-wash-12">
            <a:extLst>
              <a:ext uri="{FF2B5EF4-FFF2-40B4-BE49-F238E27FC236}">
                <a16:creationId xmlns:a16="http://schemas.microsoft.com/office/drawing/2014/main" id="{C025C4C8-259C-4830-9BC2-1B2D2F5329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DDF2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ccent-rail-12">
            <a:extLst>
              <a:ext uri="{FF2B5EF4-FFF2-40B4-BE49-F238E27FC236}">
                <a16:creationId xmlns:a16="http://schemas.microsoft.com/office/drawing/2014/main" id="{517A4202-B1CC-421C-A486-88800854A8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-12">
            <a:extLst>
              <a:ext uri="{FF2B5EF4-FFF2-40B4-BE49-F238E27FC236}">
                <a16:creationId xmlns:a16="http://schemas.microsoft.com/office/drawing/2014/main" id="{3BB76718-7F73-44AC-B2AB-2147F96AA7B6}"/>
              </a:ext>
            </a:extLst>
          </p:cNvPr>
          <p:cNvSpPr>
            <a:spLocks noGrp="1"/>
          </p:cNvSpPr>
          <p:nvPr/>
        </p:nvSpPr>
        <p:spPr>
          <a:xfrm>
            <a:off x="495300" y="2095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A6B78"/>
                </a:solidFill>
              </a:defRPr>
            </a:pPr>
            <a:r>
              <a:rPr sz="900" b="1">
                <a:solidFill>
                  <a:srgbClr val="5A6B78"/>
                </a:solidFill>
              </a:rPr>
              <a:t>TRADEOFFS</a:t>
            </a:r>
          </a:p>
        </p:txBody>
      </p:sp>
      <p:sp>
        <p:nvSpPr>
          <p:cNvPr id="4" name="title-12">
            <a:extLst>
              <a:ext uri="{FF2B5EF4-FFF2-40B4-BE49-F238E27FC236}">
                <a16:creationId xmlns:a16="http://schemas.microsoft.com/office/drawing/2014/main" id="{3B01E09A-BACF-43EC-BFA7-E23B69DC5450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933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43044"/>
                </a:solidFill>
              </a:defRPr>
            </a:pPr>
            <a:r>
              <a:rPr sz="3000" b="1">
                <a:solidFill>
                  <a:srgbClr val="143044"/>
                </a:solidFill>
              </a:rPr>
              <a:t>The main limitations are visible and defensible</a:t>
            </a:r>
          </a:p>
        </p:txBody>
      </p:sp>
      <p:sp>
        <p:nvSpPr>
          <p:cNvPr id="5" name="footer-brand-12">
            <a:extLst>
              <a:ext uri="{FF2B5EF4-FFF2-40B4-BE49-F238E27FC236}">
                <a16:creationId xmlns:a16="http://schemas.microsoft.com/office/drawing/2014/main" id="{BE37A6D4-1EA8-4D6C-96AA-B8F947DA5D45}"/>
              </a:ext>
            </a:extLst>
          </p:cNvPr>
          <p:cNvSpPr>
            <a:spLocks noGrp="1"/>
          </p:cNvSpPr>
          <p:nvPr/>
        </p:nvSpPr>
        <p:spPr>
          <a:xfrm>
            <a:off x="495300" y="62769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A6B78"/>
                </a:solidFill>
              </a:defRPr>
            </a:pPr>
            <a:r>
              <a:rPr sz="975" b="1">
                <a:solidFill>
                  <a:srgbClr val="5A6B78"/>
                </a:solidFill>
              </a:rPr>
              <a:t>OPEN-METEO ANALYTICS</a:t>
            </a:r>
          </a:p>
        </p:txBody>
      </p:sp>
      <p:sp>
        <p:nvSpPr>
          <p:cNvPr id="6" name="footer-12">
            <a:extLst>
              <a:ext uri="{FF2B5EF4-FFF2-40B4-BE49-F238E27FC236}">
                <a16:creationId xmlns:a16="http://schemas.microsoft.com/office/drawing/2014/main" id="{95D1C7A7-DD16-4AD7-9993-FE8FD36A2A5B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43044"/>
                </a:solidFill>
              </a:defRPr>
            </a:pPr>
            <a:r>
              <a:rPr sz="1125" b="0">
                <a:solidFill>
                  <a:srgbClr val="143044"/>
                </a:solidFill>
              </a:rPr>
              <a:t>12</a:t>
            </a:r>
          </a:p>
        </p:txBody>
      </p:sp>
      <p:sp>
        <p:nvSpPr>
          <p:cNvPr id="7" name="tradeoff-0">
            <a:extLst>
              <a:ext uri="{FF2B5EF4-FFF2-40B4-BE49-F238E27FC236}">
                <a16:creationId xmlns:a16="http://schemas.microsoft.com/office/drawing/2014/main" id="{1F763AB2-81E5-4B9F-AE05-E91F27F865A6}"/>
              </a:ext>
            </a:extLst>
          </p:cNvPr>
          <p:cNvSpPr>
            <a:spLocks noGrp="1"/>
          </p:cNvSpPr>
          <p:nvPr/>
        </p:nvSpPr>
        <p:spPr>
          <a:xfrm>
            <a:off x="390525" y="1752600"/>
            <a:ext cx="5534025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8" name="tradeoff-title-0">
            <a:extLst>
              <a:ext uri="{FF2B5EF4-FFF2-40B4-BE49-F238E27FC236}">
                <a16:creationId xmlns:a16="http://schemas.microsoft.com/office/drawing/2014/main" id="{B20E95E1-462E-4F9E-932F-6B98AA16473E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43044"/>
                </a:solidFill>
              </a:defRPr>
            </a:pPr>
            <a:r>
              <a:rPr sz="1800" b="1">
                <a:solidFill>
                  <a:srgbClr val="143044"/>
                </a:solidFill>
              </a:rPr>
              <a:t>Sparse AQ coverage</a:t>
            </a:r>
          </a:p>
        </p:txBody>
      </p:sp>
      <p:sp>
        <p:nvSpPr>
          <p:cNvPr id="9" name="tradeoff-body-0">
            <a:extLst>
              <a:ext uri="{FF2B5EF4-FFF2-40B4-BE49-F238E27FC236}">
                <a16:creationId xmlns:a16="http://schemas.microsoft.com/office/drawing/2014/main" id="{25E75DA0-0632-4159-AC04-C9226464AEC5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143044"/>
                </a:solidFill>
              </a:defRPr>
            </a:pPr>
            <a:r>
              <a:rPr sz="1425" b="0">
                <a:solidFill>
                  <a:srgbClr val="143044"/>
                </a:solidFill>
              </a:rPr>
              <a:t>Only recent AQ days overlap the weather fact, so the dashboard exposes coverage explicitly.</a:t>
            </a:r>
          </a:p>
        </p:txBody>
      </p:sp>
      <p:sp>
        <p:nvSpPr>
          <p:cNvPr id="10" name="tradeoff-1">
            <a:extLst>
              <a:ext uri="{FF2B5EF4-FFF2-40B4-BE49-F238E27FC236}">
                <a16:creationId xmlns:a16="http://schemas.microsoft.com/office/drawing/2014/main" id="{527611E3-29D1-438B-8307-3E53F504BAE6}"/>
              </a:ext>
            </a:extLst>
          </p:cNvPr>
          <p:cNvSpPr>
            <a:spLocks noGrp="1"/>
          </p:cNvSpPr>
          <p:nvPr/>
        </p:nvSpPr>
        <p:spPr>
          <a:xfrm>
            <a:off x="6257925" y="1752600"/>
            <a:ext cx="5534025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11" name="tradeoff-title-1">
            <a:extLst>
              <a:ext uri="{FF2B5EF4-FFF2-40B4-BE49-F238E27FC236}">
                <a16:creationId xmlns:a16="http://schemas.microsoft.com/office/drawing/2014/main" id="{FDC720D9-5FD7-4EE4-9591-4CF19CE3D10D}"/>
              </a:ext>
            </a:extLst>
          </p:cNvPr>
          <p:cNvSpPr>
            <a:spLocks noGrp="1"/>
          </p:cNvSpPr>
          <p:nvPr/>
        </p:nvSpPr>
        <p:spPr>
          <a:xfrm>
            <a:off x="6553200" y="20764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43044"/>
                </a:solidFill>
              </a:defRPr>
            </a:pPr>
            <a:r>
              <a:rPr sz="1800" b="1">
                <a:solidFill>
                  <a:srgbClr val="143044"/>
                </a:solidFill>
              </a:rPr>
              <a:t>Local warehouse</a:t>
            </a:r>
          </a:p>
        </p:txBody>
      </p:sp>
      <p:sp>
        <p:nvSpPr>
          <p:cNvPr id="12" name="tradeoff-body-1">
            <a:extLst>
              <a:ext uri="{FF2B5EF4-FFF2-40B4-BE49-F238E27FC236}">
                <a16:creationId xmlns:a16="http://schemas.microsoft.com/office/drawing/2014/main" id="{BA3A933B-25FF-4E72-A35B-ED7008CCFD9E}"/>
              </a:ext>
            </a:extLst>
          </p:cNvPr>
          <p:cNvSpPr>
            <a:spLocks noGrp="1"/>
          </p:cNvSpPr>
          <p:nvPr/>
        </p:nvSpPr>
        <p:spPr>
          <a:xfrm>
            <a:off x="6553200" y="257175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143044"/>
                </a:solidFill>
              </a:defRPr>
            </a:pPr>
            <a:r>
              <a:rPr sz="1425" b="0">
                <a:solidFill>
                  <a:srgbClr val="143044"/>
                </a:solidFill>
              </a:rPr>
              <a:t>DuckDB keeps the project easy to run, but production scheduling would need orchestration.</a:t>
            </a:r>
          </a:p>
        </p:txBody>
      </p:sp>
      <p:sp>
        <p:nvSpPr>
          <p:cNvPr id="13" name="tradeoff-2">
            <a:extLst>
              <a:ext uri="{FF2B5EF4-FFF2-40B4-BE49-F238E27FC236}">
                <a16:creationId xmlns:a16="http://schemas.microsoft.com/office/drawing/2014/main" id="{F6F6B0F7-20ED-4279-9A6D-2ABA69998FFE}"/>
              </a:ext>
            </a:extLst>
          </p:cNvPr>
          <p:cNvSpPr>
            <a:spLocks noGrp="1"/>
          </p:cNvSpPr>
          <p:nvPr/>
        </p:nvSpPr>
        <p:spPr>
          <a:xfrm>
            <a:off x="390525" y="3905250"/>
            <a:ext cx="5534025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14" name="tradeoff-title-2">
            <a:extLst>
              <a:ext uri="{FF2B5EF4-FFF2-40B4-BE49-F238E27FC236}">
                <a16:creationId xmlns:a16="http://schemas.microsoft.com/office/drawing/2014/main" id="{9E9F8AF7-3E3D-4BDA-88FE-241B6ACC8F91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43044"/>
                </a:solidFill>
              </a:defRPr>
            </a:pPr>
            <a:r>
              <a:rPr sz="1800" b="1">
                <a:solidFill>
                  <a:srgbClr val="143044"/>
                </a:solidFill>
              </a:rPr>
              <a:t>Score weights</a:t>
            </a:r>
          </a:p>
        </p:txBody>
      </p:sp>
      <p:sp>
        <p:nvSpPr>
          <p:cNvPr id="15" name="tradeoff-body-2">
            <a:extLst>
              <a:ext uri="{FF2B5EF4-FFF2-40B4-BE49-F238E27FC236}">
                <a16:creationId xmlns:a16="http://schemas.microsoft.com/office/drawing/2014/main" id="{45706A56-D41D-4950-A463-B1FCAD25A363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143044"/>
                </a:solidFill>
              </a:defRPr>
            </a:pPr>
            <a:r>
              <a:rPr sz="1425" b="0">
                <a:solidFill>
                  <a:srgbClr val="143044"/>
                </a:solidFill>
              </a:rPr>
              <a:t>The comfort score is transparent but business-defined; different audiences could tune weights.</a:t>
            </a:r>
          </a:p>
        </p:txBody>
      </p:sp>
      <p:sp>
        <p:nvSpPr>
          <p:cNvPr id="16" name="tradeoff-3">
            <a:extLst>
              <a:ext uri="{FF2B5EF4-FFF2-40B4-BE49-F238E27FC236}">
                <a16:creationId xmlns:a16="http://schemas.microsoft.com/office/drawing/2014/main" id="{DE5EA05F-2077-44C3-9CCA-544DC6ADF3B4}"/>
              </a:ext>
            </a:extLst>
          </p:cNvPr>
          <p:cNvSpPr>
            <a:spLocks noGrp="1"/>
          </p:cNvSpPr>
          <p:nvPr/>
        </p:nvSpPr>
        <p:spPr>
          <a:xfrm>
            <a:off x="6257925" y="3905250"/>
            <a:ext cx="5534025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B7D7E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17" name="tradeoff-title-3">
            <a:extLst>
              <a:ext uri="{FF2B5EF4-FFF2-40B4-BE49-F238E27FC236}">
                <a16:creationId xmlns:a16="http://schemas.microsoft.com/office/drawing/2014/main" id="{76AE6A2B-7808-4FA4-B172-47E674F2773C}"/>
              </a:ext>
            </a:extLst>
          </p:cNvPr>
          <p:cNvSpPr>
            <a:spLocks noGrp="1"/>
          </p:cNvSpPr>
          <p:nvPr/>
        </p:nvSpPr>
        <p:spPr>
          <a:xfrm>
            <a:off x="6553200" y="42291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43044"/>
                </a:solidFill>
              </a:defRPr>
            </a:pPr>
            <a:r>
              <a:rPr sz="1800" b="1">
                <a:solidFill>
                  <a:srgbClr val="143044"/>
                </a:solidFill>
              </a:rPr>
              <a:t>Refresh behavior</a:t>
            </a:r>
          </a:p>
        </p:txBody>
      </p:sp>
      <p:sp>
        <p:nvSpPr>
          <p:cNvPr id="18" name="tradeoff-body-3">
            <a:extLst>
              <a:ext uri="{FF2B5EF4-FFF2-40B4-BE49-F238E27FC236}">
                <a16:creationId xmlns:a16="http://schemas.microsoft.com/office/drawing/2014/main" id="{69D2D967-00E8-485B-B997-3F918B80C706}"/>
              </a:ext>
            </a:extLst>
          </p:cNvPr>
          <p:cNvSpPr>
            <a:spLocks noGrp="1"/>
          </p:cNvSpPr>
          <p:nvPr/>
        </p:nvSpPr>
        <p:spPr>
          <a:xfrm>
            <a:off x="6553200" y="472440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143044"/>
                </a:solidFill>
              </a:defRPr>
            </a:pPr>
            <a:r>
              <a:rPr sz="1425" b="0">
                <a:solidFill>
                  <a:srgbClr val="143044"/>
                </a:solidFill>
              </a:rPr>
              <a:t>Extraction overwrites raw CSVs for reproducibility rather than maintaining a historical lake.</a:t>
            </a:r>
          </a:p>
        </p:txBody>
      </p:sp>
    </p:spTree>
    <p:extLst>
      <p:ext uri="{BB962C8B-B14F-4D97-AF65-F5344CB8AC3E}">
        <p14:creationId xmlns:p14="http://schemas.microsoft.com/office/powerpoint/2010/main" val="5450577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1518</Words>
  <Application>Microsoft Macintosh PowerPoint</Application>
  <DocSecurity>0</DocSecurity>
  <PresentationFormat>Widescreen</PresentationFormat>
  <Paragraphs>258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Nicolas Guadamillas Jaquete</cp:lastModifiedBy>
  <cp:revision>1</cp:revision>
  <dcterms:created xsi:type="dcterms:W3CDTF">2026-07-02T10:25:58Z</dcterms:created>
  <dcterms:modified xsi:type="dcterms:W3CDTF">2026-07-02T10:29:27Z</dcterms:modified>
</cp:coreProperties>
</file>